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6" r:id="rId7"/>
    <p:sldId id="261" r:id="rId8"/>
    <p:sldId id="263" r:id="rId9"/>
    <p:sldId id="262"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752F1E-08E0-44C8-B968-201FEB23334C}" v="4" dt="2026-10-14T14:45:43.6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4" d="100"/>
          <a:sy n="64" d="100"/>
        </p:scale>
        <p:origin x="76" y="1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ishka Singal" userId="0d9ea3f0d045d2f4" providerId="LiveId" clId="{F2CAF438-FBE8-4D63-84D6-12DB18AC5B1B}"/>
    <pc:docChg chg="custSel modSld sldOrd">
      <pc:chgData name="Kanishka Singal" userId="0d9ea3f0d045d2f4" providerId="LiveId" clId="{F2CAF438-FBE8-4D63-84D6-12DB18AC5B1B}" dt="2026-10-15T05:02:26.092" v="40" actId="1076"/>
      <pc:docMkLst>
        <pc:docMk/>
      </pc:docMkLst>
      <pc:sldChg chg="delSp modSp mod">
        <pc:chgData name="Kanishka Singal" userId="0d9ea3f0d045d2f4" providerId="LiveId" clId="{F2CAF438-FBE8-4D63-84D6-12DB18AC5B1B}" dt="2026-10-15T05:02:26.092" v="40" actId="1076"/>
        <pc:sldMkLst>
          <pc:docMk/>
          <pc:sldMk cId="0" sldId="256"/>
        </pc:sldMkLst>
        <pc:spChg chg="mod">
          <ac:chgData name="Kanishka Singal" userId="0d9ea3f0d045d2f4" providerId="LiveId" clId="{F2CAF438-FBE8-4D63-84D6-12DB18AC5B1B}" dt="2026-10-15T04:48:30.475" v="21" actId="1076"/>
          <ac:spMkLst>
            <pc:docMk/>
            <pc:sldMk cId="0" sldId="256"/>
            <ac:spMk id="17" creationId="{00000000-0000-0000-0000-000000000000}"/>
          </ac:spMkLst>
        </pc:spChg>
        <pc:spChg chg="mod">
          <ac:chgData name="Kanishka Singal" userId="0d9ea3f0d045d2f4" providerId="LiveId" clId="{F2CAF438-FBE8-4D63-84D6-12DB18AC5B1B}" dt="2026-10-15T04:55:03.882" v="36" actId="20577"/>
          <ac:spMkLst>
            <pc:docMk/>
            <pc:sldMk cId="0" sldId="256"/>
            <ac:spMk id="18" creationId="{00000000-0000-0000-0000-000000000000}"/>
          </ac:spMkLst>
        </pc:spChg>
        <pc:spChg chg="del">
          <ac:chgData name="Kanishka Singal" userId="0d9ea3f0d045d2f4" providerId="LiveId" clId="{F2CAF438-FBE8-4D63-84D6-12DB18AC5B1B}" dt="2026-10-15T05:02:20.943" v="39" actId="478"/>
          <ac:spMkLst>
            <pc:docMk/>
            <pc:sldMk cId="0" sldId="256"/>
            <ac:spMk id="19" creationId="{00000000-0000-0000-0000-000000000000}"/>
          </ac:spMkLst>
        </pc:spChg>
        <pc:spChg chg="mod">
          <ac:chgData name="Kanishka Singal" userId="0d9ea3f0d045d2f4" providerId="LiveId" clId="{F2CAF438-FBE8-4D63-84D6-12DB18AC5B1B}" dt="2026-10-15T05:02:26.092" v="40" actId="1076"/>
          <ac:spMkLst>
            <pc:docMk/>
            <pc:sldMk cId="0" sldId="256"/>
            <ac:spMk id="20" creationId="{00000000-0000-0000-0000-000000000000}"/>
          </ac:spMkLst>
        </pc:spChg>
        <pc:spChg chg="mod">
          <ac:chgData name="Kanishka Singal" userId="0d9ea3f0d045d2f4" providerId="LiveId" clId="{F2CAF438-FBE8-4D63-84D6-12DB18AC5B1B}" dt="2026-10-15T04:54:27.832" v="27" actId="20577"/>
          <ac:spMkLst>
            <pc:docMk/>
            <pc:sldMk cId="0" sldId="256"/>
            <ac:spMk id="22" creationId="{00000000-0000-0000-0000-000000000000}"/>
          </ac:spMkLst>
        </pc:spChg>
      </pc:sldChg>
      <pc:sldChg chg="delSp mod">
        <pc:chgData name="Kanishka Singal" userId="0d9ea3f0d045d2f4" providerId="LiveId" clId="{F2CAF438-FBE8-4D63-84D6-12DB18AC5B1B}" dt="2026-10-15T04:46:28.403" v="10" actId="478"/>
        <pc:sldMkLst>
          <pc:docMk/>
          <pc:sldMk cId="0" sldId="257"/>
        </pc:sldMkLst>
        <pc:spChg chg="del">
          <ac:chgData name="Kanishka Singal" userId="0d9ea3f0d045d2f4" providerId="LiveId" clId="{F2CAF438-FBE8-4D63-84D6-12DB18AC5B1B}" dt="2026-10-15T04:46:28.403" v="10" actId="478"/>
          <ac:spMkLst>
            <pc:docMk/>
            <pc:sldMk cId="0" sldId="257"/>
            <ac:spMk id="5" creationId="{00000000-0000-0000-0000-000000000000}"/>
          </ac:spMkLst>
        </pc:spChg>
      </pc:sldChg>
      <pc:sldChg chg="delSp mod">
        <pc:chgData name="Kanishka Singal" userId="0d9ea3f0d045d2f4" providerId="LiveId" clId="{F2CAF438-FBE8-4D63-84D6-12DB18AC5B1B}" dt="2026-10-15T04:46:23.452" v="9" actId="478"/>
        <pc:sldMkLst>
          <pc:docMk/>
          <pc:sldMk cId="0" sldId="258"/>
        </pc:sldMkLst>
        <pc:spChg chg="del">
          <ac:chgData name="Kanishka Singal" userId="0d9ea3f0d045d2f4" providerId="LiveId" clId="{F2CAF438-FBE8-4D63-84D6-12DB18AC5B1B}" dt="2026-10-15T04:46:23.452" v="9" actId="478"/>
          <ac:spMkLst>
            <pc:docMk/>
            <pc:sldMk cId="0" sldId="258"/>
            <ac:spMk id="5" creationId="{00000000-0000-0000-0000-000000000000}"/>
          </ac:spMkLst>
        </pc:spChg>
      </pc:sldChg>
      <pc:sldChg chg="delSp modSp mod">
        <pc:chgData name="Kanishka Singal" userId="0d9ea3f0d045d2f4" providerId="LiveId" clId="{F2CAF438-FBE8-4D63-84D6-12DB18AC5B1B}" dt="2026-10-15T04:46:36.775" v="11" actId="478"/>
        <pc:sldMkLst>
          <pc:docMk/>
          <pc:sldMk cId="0" sldId="259"/>
        </pc:sldMkLst>
        <pc:spChg chg="del">
          <ac:chgData name="Kanishka Singal" userId="0d9ea3f0d045d2f4" providerId="LiveId" clId="{F2CAF438-FBE8-4D63-84D6-12DB18AC5B1B}" dt="2026-10-15T04:46:36.775" v="11" actId="478"/>
          <ac:spMkLst>
            <pc:docMk/>
            <pc:sldMk cId="0" sldId="259"/>
            <ac:spMk id="5" creationId="{00000000-0000-0000-0000-000000000000}"/>
          </ac:spMkLst>
        </pc:spChg>
        <pc:picChg chg="mod">
          <ac:chgData name="Kanishka Singal" userId="0d9ea3f0d045d2f4" providerId="LiveId" clId="{F2CAF438-FBE8-4D63-84D6-12DB18AC5B1B}" dt="2026-10-15T04:46:03.056" v="5" actId="1076"/>
          <ac:picMkLst>
            <pc:docMk/>
            <pc:sldMk cId="0" sldId="259"/>
            <ac:picMk id="79" creationId="{F2B13D7D-3FD9-E074-E09C-9C063B6F3725}"/>
          </ac:picMkLst>
        </pc:picChg>
      </pc:sldChg>
      <pc:sldChg chg="delSp modSp mod">
        <pc:chgData name="Kanishka Singal" userId="0d9ea3f0d045d2f4" providerId="LiveId" clId="{F2CAF438-FBE8-4D63-84D6-12DB18AC5B1B}" dt="2026-10-15T04:46:20.199" v="8" actId="478"/>
        <pc:sldMkLst>
          <pc:docMk/>
          <pc:sldMk cId="0" sldId="260"/>
        </pc:sldMkLst>
        <pc:spChg chg="del">
          <ac:chgData name="Kanishka Singal" userId="0d9ea3f0d045d2f4" providerId="LiveId" clId="{F2CAF438-FBE8-4D63-84D6-12DB18AC5B1B}" dt="2026-10-15T04:46:20.199" v="8" actId="478"/>
          <ac:spMkLst>
            <pc:docMk/>
            <pc:sldMk cId="0" sldId="260"/>
            <ac:spMk id="5" creationId="{00000000-0000-0000-0000-000000000000}"/>
          </ac:spMkLst>
        </pc:spChg>
        <pc:picChg chg="mod">
          <ac:chgData name="Kanishka Singal" userId="0d9ea3f0d045d2f4" providerId="LiveId" clId="{F2CAF438-FBE8-4D63-84D6-12DB18AC5B1B}" dt="2026-10-15T04:46:17.796" v="7" actId="14100"/>
          <ac:picMkLst>
            <pc:docMk/>
            <pc:sldMk cId="0" sldId="260"/>
            <ac:picMk id="54" creationId="{7F82493A-9ACA-E118-E93D-54F67FFE146E}"/>
          </ac:picMkLst>
        </pc:picChg>
      </pc:sldChg>
      <pc:sldChg chg="delSp mod ord">
        <pc:chgData name="Kanishka Singal" userId="0d9ea3f0d045d2f4" providerId="LiveId" clId="{F2CAF438-FBE8-4D63-84D6-12DB18AC5B1B}" dt="2026-10-15T04:46:40.306" v="12" actId="478"/>
        <pc:sldMkLst>
          <pc:docMk/>
          <pc:sldMk cId="0" sldId="261"/>
        </pc:sldMkLst>
        <pc:spChg chg="del">
          <ac:chgData name="Kanishka Singal" userId="0d9ea3f0d045d2f4" providerId="LiveId" clId="{F2CAF438-FBE8-4D63-84D6-12DB18AC5B1B}" dt="2026-10-15T04:46:40.306" v="12" actId="478"/>
          <ac:spMkLst>
            <pc:docMk/>
            <pc:sldMk cId="0" sldId="261"/>
            <ac:spMk id="5" creationId="{00000000-0000-0000-0000-000000000000}"/>
          </ac:spMkLst>
        </pc:spChg>
      </pc:sldChg>
      <pc:sldChg chg="delSp mod">
        <pc:chgData name="Kanishka Singal" userId="0d9ea3f0d045d2f4" providerId="LiveId" clId="{F2CAF438-FBE8-4D63-84D6-12DB18AC5B1B}" dt="2026-10-15T04:46:47.575" v="13" actId="478"/>
        <pc:sldMkLst>
          <pc:docMk/>
          <pc:sldMk cId="0" sldId="262"/>
        </pc:sldMkLst>
        <pc:spChg chg="del">
          <ac:chgData name="Kanishka Singal" userId="0d9ea3f0d045d2f4" providerId="LiveId" clId="{F2CAF438-FBE8-4D63-84D6-12DB18AC5B1B}" dt="2026-10-15T04:46:47.575" v="13" actId="478"/>
          <ac:spMkLst>
            <pc:docMk/>
            <pc:sldMk cId="0" sldId="262"/>
            <ac:spMk id="5" creationId="{00000000-0000-0000-0000-000000000000}"/>
          </ac:spMkLst>
        </pc:spChg>
      </pc:sldChg>
      <pc:sldChg chg="ord">
        <pc:chgData name="Kanishka Singal" userId="0d9ea3f0d045d2f4" providerId="LiveId" clId="{F2CAF438-FBE8-4D63-84D6-12DB18AC5B1B}" dt="2026-10-15T04:00:39.318" v="1"/>
        <pc:sldMkLst>
          <pc:docMk/>
          <pc:sldMk cId="0" sldId="263"/>
        </pc:sldMkLst>
      </pc:sldChg>
      <pc:sldChg chg="ord">
        <pc:chgData name="Kanishka Singal" userId="0d9ea3f0d045d2f4" providerId="LiveId" clId="{F2CAF438-FBE8-4D63-84D6-12DB18AC5B1B}" dt="2026-10-15T05:01:10.903" v="38"/>
        <pc:sldMkLst>
          <pc:docMk/>
          <pc:sldMk cId="726927256"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2622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Introduction. This is an internal assessment for Business Analytics. I used Power BI to turn a banking HR training dataset into a dashboard that answers one practical question: who has completed mandatory training, who is still pending, and how many hours are being spent, department by department. The industry is banking and financial services and the function is Human Resources. Mandatory training matters in banking because compliance topics such as KYC and AML are regulatory requirements, so HR needs a quick view of gaps.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dataset. It has 500 employee records, one row per employee. This is synthetic sample data prepared for academic practice, not real company data. The fields are Employee ID, Department, Training Status (Completed or Pending), Training Hours and Training Priority (High, Medium or Low). The priority split on the right comes straight from the dashboard: 278 Medium (55.6%), 205 High (41%) and 17 Low (3.4%). These fields let us summarise by department, status and priority.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performance indicators. Three cards sit at the top of the dashboard. Total employees is 500. Average training hours is 13.9 per employee. Employees with pending training is 215, which is 43% of the workforce (215 divided by 500). So more than four in ten employees still have mandatory training outstanding. These values are read from the dashboard as displayed.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Chart 1: completed versus pending by department. Each bar is a department and is split into completed and pending employees. Retail Banking is the largest department with 100 employees (71 completed, 29 pending). Risk Management has the largest pending count: 54 of 87 employees. IT and Digital Banking has the highest pending share: 43 of 67, which is 64.2%. Corporate Banking has 35 of 65 pending. Investment Banking is the best performer with only 9 of 41 pending. The takeaway is that raw counts and percentages tell slightly different stories, so HR should look at both before targeting follow-up.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Chart 2: average training hours by department. Human Resources has the highest average at 15.9 hours. IT and Digital, Risk Management and Corporate Banking are all at 14.3, Marketing is 14.2, Operations 13.9, Investment Banking 13.7, and Retail Banking is lowest at 12.5. The gap between highest and lowest is 3.4 hours. Caution: a difference in average hours is not proof that training is more effective or that a department is more compliant.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ML method. This is supervised learning because the data has a labelled outcome: Training Status. The model is logistic regression because the outcome has two classes, Completed or Pending, and logistic regression gives the probability that training lapses. Linear regression would suit a continuous target such as training hours, and unsupervised methods such as k-means have no label and would only group similar employees. Inputs are Department, Training Hours and Training Priority. The target is Training Status with Pending coded as 1. Limit: with no skill or module column, a true skill-gap prediction is not possible; adding one would enable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Live dashboard. This is the Power BI report. The Department slicer filters every visual. With the slicer on All we see 500 employees, 13.9 average hours and 215 pending. For the demo: open the report, pick one department, watch the cards, the priority donut and both bar charts update, then select All to reset. Values change depending on the department selected.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ML insight: lapse and skill-gap view. I applied a machine-learning approach to the dashboard fields to flag where each department's training is lapsing. Pending percentage is pending employees divided by department headcount, taken from the dashboard counts. Risk bands: High is 50% or more pending, Medium is 30 to 49%, Low is under 30%. IT and Digital, Risk Management and Corporate Banking are High. Human Resources and Marketing are Medium. Operations, Retail Banking and Investment Banking are Low, although Retail has the lowest training hours at 12.5. Important: the dashboard has no skill field, so the skill sets listed (for example AML and KYC for Risk Management, cyber security and data privacy for IT) are indicative areas mapped to each department's training focus. They should be confirmed against the actual model output.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Conclusion. Findings: Risk Management has the most pending employees (54) and IT and Digital the highest share (about 64%); HR averages 15.9 hours against 12.5 for Retail Banking; overall 215 of 500 employees (43%) are pending and 205 (41%) are High priority. Recommendations: prioritise follow-up in Risk Management, IT and Digital and Corporate Banking, where over half are pending, and use the lapse and skill-gap view to target modules and review hour gaps. Limitations: synthetic data, associations are not causation, figures alone do not prove effectiveness or compliance, and the ML skill-gap results are indicative. AI-use declaration: AI assisted with structure and wording; the student verifies the calculations and understands the analysis. Close with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Rounded Rectangle 3"/>
          <p:cNvSpPr/>
          <p:nvPr/>
        </p:nvSpPr>
        <p:spPr>
          <a:xfrm>
            <a:off x="8321040" y="1051560"/>
            <a:ext cx="2651760" cy="164592"/>
          </a:xfrm>
          <a:prstGeom prst="round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321040" y="1353312"/>
            <a:ext cx="2057400" cy="164592"/>
          </a:xfrm>
          <a:prstGeom prst="roundRect">
            <a:avLst/>
          </a:prstGeom>
          <a:solidFill>
            <a:srgbClr val="345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321040" y="1655064"/>
            <a:ext cx="3063240" cy="164592"/>
          </a:xfrm>
          <a:prstGeom prst="roundRect">
            <a:avLst/>
          </a:prstGeom>
          <a:solidFill>
            <a:srgbClr val="345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641080" y="2834640"/>
            <a:ext cx="310896" cy="310896"/>
          </a:xfrm>
          <a:prstGeom prst="ellipse">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40496" y="3191256"/>
            <a:ext cx="512064" cy="777240"/>
          </a:xfrm>
          <a:prstGeom prst="round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555480" y="2834640"/>
            <a:ext cx="310896" cy="310896"/>
          </a:xfrm>
          <a:prstGeom prst="ellipse">
            <a:avLst/>
          </a:prstGeom>
          <a:solidFill>
            <a:srgbClr val="62B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454896" y="3191256"/>
            <a:ext cx="512064" cy="777240"/>
          </a:xfrm>
          <a:prstGeom prst="roundRect">
            <a:avLst/>
          </a:prstGeom>
          <a:solidFill>
            <a:srgbClr val="62B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469880" y="2834640"/>
            <a:ext cx="310896" cy="310896"/>
          </a:xfrm>
          <a:prstGeom prst="ellipse">
            <a:avLst/>
          </a:prstGeom>
          <a:solidFill>
            <a:srgbClr val="2869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0369296" y="3191256"/>
            <a:ext cx="512064" cy="777240"/>
          </a:xfrm>
          <a:prstGeom prst="roundRect">
            <a:avLst/>
          </a:prstGeom>
          <a:solidFill>
            <a:srgbClr val="2869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366760" y="4617720"/>
            <a:ext cx="365760" cy="594360"/>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970264" y="4206240"/>
            <a:ext cx="365760" cy="1005840"/>
          </a:xfrm>
          <a:prstGeom prst="rect">
            <a:avLst/>
          </a:prstGeom>
          <a:solidFill>
            <a:srgbClr val="62B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573768" y="3794760"/>
            <a:ext cx="365760" cy="1417320"/>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0177272" y="3474720"/>
            <a:ext cx="365760" cy="1737360"/>
          </a:xfrm>
          <a:prstGeom prst="rect">
            <a:avLst/>
          </a:prstGeom>
          <a:solidFill>
            <a:srgbClr val="62B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0" y="5815584"/>
            <a:ext cx="7210045" cy="338554"/>
          </a:xfrm>
          <a:prstGeom prst="rect">
            <a:avLst/>
          </a:prstGeom>
          <a:noFill/>
        </p:spPr>
        <p:txBody>
          <a:bodyPr wrap="square" lIns="45720" rIns="45720" anchor="t">
            <a:spAutoFit/>
          </a:bodyPr>
          <a:lstStyle/>
          <a:p>
            <a:pPr algn="l">
              <a:spcAft>
                <a:spcPts val="0"/>
              </a:spcAft>
            </a:pPr>
            <a:r>
              <a:rPr lang="en-IN" sz="1600" b="1" i="0" dirty="0">
                <a:solidFill>
                  <a:srgbClr val="9BC7FF"/>
                </a:solidFill>
                <a:latin typeface="Aptos"/>
              </a:rPr>
              <a:t>PRESENTATION BY GROUP 4</a:t>
            </a:r>
            <a:endParaRPr sz="1600" b="1" i="0" dirty="0">
              <a:solidFill>
                <a:srgbClr val="9BC7FF"/>
              </a:solidFill>
              <a:latin typeface="Aptos"/>
            </a:endParaRPr>
          </a:p>
        </p:txBody>
      </p:sp>
      <p:sp>
        <p:nvSpPr>
          <p:cNvPr id="18" name="TextBox 17"/>
          <p:cNvSpPr txBox="1"/>
          <p:nvPr/>
        </p:nvSpPr>
        <p:spPr>
          <a:xfrm>
            <a:off x="621792" y="1143000"/>
            <a:ext cx="6720840" cy="1523494"/>
          </a:xfrm>
          <a:prstGeom prst="rect">
            <a:avLst/>
          </a:prstGeom>
          <a:noFill/>
        </p:spPr>
        <p:txBody>
          <a:bodyPr wrap="square" lIns="45720" rIns="45720" anchor="t">
            <a:spAutoFit/>
          </a:bodyPr>
          <a:lstStyle/>
          <a:p>
            <a:pPr algn="l">
              <a:spcAft>
                <a:spcPts val="0"/>
              </a:spcAft>
            </a:pPr>
            <a:r>
              <a:rPr lang="en-IN" sz="3100" b="1" i="0" dirty="0">
                <a:solidFill>
                  <a:srgbClr val="FFFFFF"/>
                </a:solidFill>
                <a:latin typeface="Aptos"/>
              </a:rPr>
              <a:t>PNB </a:t>
            </a:r>
            <a:r>
              <a:rPr sz="3100" b="1" i="0" dirty="0">
                <a:solidFill>
                  <a:srgbClr val="FFFFFF"/>
                </a:solidFill>
                <a:latin typeface="Aptos"/>
              </a:rPr>
              <a:t>Bank</a:t>
            </a:r>
            <a:r>
              <a:rPr lang="en-IN" sz="3100" b="1" i="0" dirty="0">
                <a:solidFill>
                  <a:srgbClr val="FFFFFF"/>
                </a:solidFill>
                <a:latin typeface="Aptos"/>
              </a:rPr>
              <a:t> </a:t>
            </a:r>
            <a:r>
              <a:rPr sz="3100" b="1" i="0" dirty="0">
                <a:solidFill>
                  <a:srgbClr val="FFFFFF"/>
                </a:solidFill>
                <a:latin typeface="Aptos"/>
              </a:rPr>
              <a:t>HR –
Mandatory Training
Dashboard</a:t>
            </a:r>
          </a:p>
        </p:txBody>
      </p:sp>
      <p:sp>
        <p:nvSpPr>
          <p:cNvPr id="20" name="Rounded Rectangle 19"/>
          <p:cNvSpPr/>
          <p:nvPr/>
        </p:nvSpPr>
        <p:spPr>
          <a:xfrm>
            <a:off x="576072" y="4279392"/>
            <a:ext cx="2743200" cy="987552"/>
          </a:xfrm>
          <a:prstGeom prst="roundRect">
            <a:avLst/>
          </a:prstGeom>
          <a:solidFill>
            <a:srgbClr val="112F56"/>
          </a:solidFill>
          <a:ln w="10160">
            <a:solidFill>
              <a:srgbClr val="2A50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59" y="4407408"/>
            <a:ext cx="2377440" cy="182880"/>
          </a:xfrm>
          <a:prstGeom prst="rect">
            <a:avLst/>
          </a:prstGeom>
          <a:noFill/>
        </p:spPr>
        <p:txBody>
          <a:bodyPr wrap="square" lIns="45720" rIns="45720" anchor="t">
            <a:spAutoFit/>
          </a:bodyPr>
          <a:lstStyle/>
          <a:p>
            <a:pPr algn="l">
              <a:spcAft>
                <a:spcPts val="0"/>
              </a:spcAft>
            </a:pPr>
            <a:r>
              <a:rPr sz="900" b="1" i="0">
                <a:solidFill>
                  <a:srgbClr val="9CC2F1"/>
                </a:solidFill>
                <a:latin typeface="Aptos"/>
              </a:rPr>
              <a:t>INDUSTRY</a:t>
            </a:r>
          </a:p>
        </p:txBody>
      </p:sp>
      <p:sp>
        <p:nvSpPr>
          <p:cNvPr id="22" name="TextBox 21"/>
          <p:cNvSpPr txBox="1"/>
          <p:nvPr/>
        </p:nvSpPr>
        <p:spPr>
          <a:xfrm>
            <a:off x="822959" y="4681728"/>
            <a:ext cx="2423160" cy="523220"/>
          </a:xfrm>
          <a:prstGeom prst="rect">
            <a:avLst/>
          </a:prstGeom>
          <a:noFill/>
        </p:spPr>
        <p:txBody>
          <a:bodyPr wrap="square" lIns="45720" rIns="45720" anchor="t">
            <a:spAutoFit/>
          </a:bodyPr>
          <a:lstStyle/>
          <a:p>
            <a:pPr algn="l">
              <a:spcAft>
                <a:spcPts val="0"/>
              </a:spcAft>
            </a:pPr>
            <a:r>
              <a:rPr lang="en-IN" sz="1400" b="1" i="0" dirty="0">
                <a:solidFill>
                  <a:srgbClr val="FFFFFF"/>
                </a:solidFill>
                <a:latin typeface="Aptos"/>
              </a:rPr>
              <a:t>PNB </a:t>
            </a:r>
            <a:r>
              <a:rPr sz="1400" b="1" i="0" dirty="0">
                <a:solidFill>
                  <a:srgbClr val="FFFFFF"/>
                </a:solidFill>
                <a:latin typeface="Aptos"/>
              </a:rPr>
              <a:t>Banking &amp; Financial Services</a:t>
            </a:r>
          </a:p>
        </p:txBody>
      </p:sp>
      <p:sp>
        <p:nvSpPr>
          <p:cNvPr id="23" name="Rounded Rectangle 22"/>
          <p:cNvSpPr/>
          <p:nvPr/>
        </p:nvSpPr>
        <p:spPr>
          <a:xfrm>
            <a:off x="3703320" y="4251960"/>
            <a:ext cx="2743200" cy="987552"/>
          </a:xfrm>
          <a:prstGeom prst="roundRect">
            <a:avLst/>
          </a:prstGeom>
          <a:solidFill>
            <a:srgbClr val="112F56"/>
          </a:solidFill>
          <a:ln w="10160">
            <a:solidFill>
              <a:srgbClr val="2A50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867911" y="4407408"/>
            <a:ext cx="2377440" cy="182880"/>
          </a:xfrm>
          <a:prstGeom prst="rect">
            <a:avLst/>
          </a:prstGeom>
          <a:noFill/>
        </p:spPr>
        <p:txBody>
          <a:bodyPr wrap="square" lIns="45720" rIns="45720" anchor="t">
            <a:spAutoFit/>
          </a:bodyPr>
          <a:lstStyle/>
          <a:p>
            <a:pPr algn="l">
              <a:spcAft>
                <a:spcPts val="0"/>
              </a:spcAft>
            </a:pPr>
            <a:r>
              <a:rPr sz="900" b="1" i="0">
                <a:solidFill>
                  <a:srgbClr val="9CC2F1"/>
                </a:solidFill>
                <a:latin typeface="Aptos"/>
              </a:rPr>
              <a:t>FUNCTION</a:t>
            </a:r>
          </a:p>
        </p:txBody>
      </p:sp>
      <p:sp>
        <p:nvSpPr>
          <p:cNvPr id="25" name="TextBox 24"/>
          <p:cNvSpPr txBox="1"/>
          <p:nvPr/>
        </p:nvSpPr>
        <p:spPr>
          <a:xfrm>
            <a:off x="3867911" y="4681728"/>
            <a:ext cx="2423160" cy="384048"/>
          </a:xfrm>
          <a:prstGeom prst="rect">
            <a:avLst/>
          </a:prstGeom>
          <a:noFill/>
        </p:spPr>
        <p:txBody>
          <a:bodyPr wrap="square" lIns="45720" rIns="45720" anchor="t">
            <a:spAutoFit/>
          </a:bodyPr>
          <a:lstStyle/>
          <a:p>
            <a:pPr algn="l">
              <a:spcAft>
                <a:spcPts val="0"/>
              </a:spcAft>
            </a:pPr>
            <a:r>
              <a:rPr sz="1400" b="1" i="0">
                <a:solidFill>
                  <a:srgbClr val="FFFFFF"/>
                </a:solidFill>
                <a:latin typeface="Aptos"/>
              </a:rPr>
              <a:t>Human Resources (HR)</a:t>
            </a:r>
          </a:p>
        </p:txBody>
      </p:sp>
      <p:sp>
        <p:nvSpPr>
          <p:cNvPr id="26" name="Rounded Rectangle 25"/>
          <p:cNvSpPr/>
          <p:nvPr/>
        </p:nvSpPr>
        <p:spPr>
          <a:xfrm>
            <a:off x="658368" y="5468112"/>
            <a:ext cx="5806440" cy="676656"/>
          </a:xfrm>
          <a:prstGeom prst="roundRect">
            <a:avLst/>
          </a:prstGeom>
          <a:solidFill>
            <a:srgbClr val="112F56"/>
          </a:solidFill>
          <a:ln w="10160">
            <a:solidFill>
              <a:srgbClr val="2A50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5577840"/>
            <a:ext cx="1097280" cy="182880"/>
          </a:xfrm>
          <a:prstGeom prst="rect">
            <a:avLst/>
          </a:prstGeom>
          <a:noFill/>
        </p:spPr>
        <p:txBody>
          <a:bodyPr wrap="square" lIns="45720" rIns="45720" anchor="t">
            <a:spAutoFit/>
          </a:bodyPr>
          <a:lstStyle/>
          <a:p>
            <a:pPr algn="l">
              <a:spcAft>
                <a:spcPts val="0"/>
              </a:spcAft>
            </a:pPr>
            <a:r>
              <a:rPr sz="900" b="1" i="0">
                <a:solidFill>
                  <a:srgbClr val="9CC2F1"/>
                </a:solidFill>
                <a:latin typeface="Aptos"/>
              </a:rPr>
              <a:t>HR PROBLEM</a:t>
            </a:r>
          </a:p>
        </p:txBody>
      </p:sp>
      <p:sp>
        <p:nvSpPr>
          <p:cNvPr id="28" name="TextBox 27"/>
          <p:cNvSpPr txBox="1"/>
          <p:nvPr/>
        </p:nvSpPr>
        <p:spPr>
          <a:xfrm>
            <a:off x="1874519" y="5559552"/>
            <a:ext cx="4343400" cy="384048"/>
          </a:xfrm>
          <a:prstGeom prst="rect">
            <a:avLst/>
          </a:prstGeom>
          <a:noFill/>
        </p:spPr>
        <p:txBody>
          <a:bodyPr wrap="square" lIns="45720" rIns="45720" anchor="t">
            <a:spAutoFit/>
          </a:bodyPr>
          <a:lstStyle/>
          <a:p>
            <a:pPr algn="l">
              <a:spcAft>
                <a:spcPts val="0"/>
              </a:spcAft>
            </a:pPr>
            <a:r>
              <a:rPr sz="1200" b="0" i="0">
                <a:solidFill>
                  <a:srgbClr val="FFFFFF"/>
                </a:solidFill>
                <a:latin typeface="Aptos"/>
              </a:rPr>
              <a:t>Track completion, pending training and training hours across departments.</a:t>
            </a:r>
          </a:p>
        </p:txBody>
      </p:sp>
      <p:sp>
        <p:nvSpPr>
          <p:cNvPr id="29" name="TextBox 28"/>
          <p:cNvSpPr txBox="1"/>
          <p:nvPr/>
        </p:nvSpPr>
        <p:spPr>
          <a:xfrm>
            <a:off x="10744200" y="6528816"/>
            <a:ext cx="914400" cy="164592"/>
          </a:xfrm>
          <a:prstGeom prst="rect">
            <a:avLst/>
          </a:prstGeom>
          <a:noFill/>
        </p:spPr>
        <p:txBody>
          <a:bodyPr wrap="square" lIns="45720" rIns="45720" anchor="t">
            <a:spAutoFit/>
          </a:bodyPr>
          <a:lstStyle/>
          <a:p>
            <a:pPr algn="r">
              <a:spcAft>
                <a:spcPts val="0"/>
              </a:spcAft>
            </a:pPr>
            <a:r>
              <a:rPr sz="900" b="0" i="0">
                <a:solidFill>
                  <a:srgbClr val="B0C2D8"/>
                </a:solidFill>
                <a:latin typeface="Aptos"/>
              </a:rPr>
              <a:t>01  /  09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698480" cy="502920"/>
          </a:xfrm>
          <a:prstGeom prst="rect">
            <a:avLst/>
          </a:prstGeom>
          <a:noFill/>
        </p:spPr>
        <p:txBody>
          <a:bodyPr wrap="square" lIns="45720" rIns="45720" anchor="t">
            <a:spAutoFit/>
          </a:bodyPr>
          <a:lstStyle/>
          <a:p>
            <a:pPr algn="l">
              <a:spcAft>
                <a:spcPts val="0"/>
              </a:spcAft>
            </a:pPr>
            <a:r>
              <a:rPr sz="2600" b="1" i="0">
                <a:solidFill>
                  <a:srgbClr val="FFFFFF"/>
                </a:solidFill>
                <a:latin typeface="Aptos"/>
              </a:rPr>
              <a:t>Understanding the HR Training Dataset</a:t>
            </a:r>
          </a:p>
        </p:txBody>
      </p:sp>
      <p:sp>
        <p:nvSpPr>
          <p:cNvPr id="4" name="Rectangle 3"/>
          <p:cNvSpPr/>
          <p:nvPr/>
        </p:nvSpPr>
        <p:spPr>
          <a:xfrm>
            <a:off x="530352" y="850392"/>
            <a:ext cx="713232" cy="50292"/>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44200" y="6528816"/>
            <a:ext cx="914400" cy="164592"/>
          </a:xfrm>
          <a:prstGeom prst="rect">
            <a:avLst/>
          </a:prstGeom>
          <a:noFill/>
        </p:spPr>
        <p:txBody>
          <a:bodyPr wrap="square" lIns="45720" rIns="45720" anchor="t">
            <a:spAutoFit/>
          </a:bodyPr>
          <a:lstStyle/>
          <a:p>
            <a:pPr algn="r">
              <a:spcAft>
                <a:spcPts val="0"/>
              </a:spcAft>
            </a:pPr>
            <a:r>
              <a:rPr sz="900" b="0" i="0">
                <a:solidFill>
                  <a:srgbClr val="B0C2D8"/>
                </a:solidFill>
                <a:latin typeface="Aptos"/>
              </a:rPr>
              <a:t>02  /  09</a:t>
            </a:r>
          </a:p>
        </p:txBody>
      </p:sp>
      <p:sp>
        <p:nvSpPr>
          <p:cNvPr id="8" name="Rounded Rectangle 7"/>
          <p:cNvSpPr/>
          <p:nvPr/>
        </p:nvSpPr>
        <p:spPr>
          <a:xfrm>
            <a:off x="530352" y="1143000"/>
            <a:ext cx="4892040" cy="5074920"/>
          </a:xfrm>
          <a:prstGeom prst="roundRect">
            <a:avLst/>
          </a:prstGeom>
          <a:solidFill>
            <a:srgbClr val="FFFFFF"/>
          </a:solidFill>
          <a:ln w="10160">
            <a:solidFill>
              <a:srgbClr val="CF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4672" y="1417320"/>
            <a:ext cx="2057400" cy="283464"/>
          </a:xfrm>
          <a:prstGeom prst="roundRect">
            <a:avLst/>
          </a:prstGeom>
          <a:solidFill>
            <a:srgbClr val="E1EFFF"/>
          </a:solidFill>
          <a:ln w="10160">
            <a:solidFill>
              <a:srgbClr val="E1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1458468"/>
            <a:ext cx="1947672" cy="182880"/>
          </a:xfrm>
          <a:prstGeom prst="rect">
            <a:avLst/>
          </a:prstGeom>
          <a:noFill/>
        </p:spPr>
        <p:txBody>
          <a:bodyPr wrap="square" lIns="0" tIns="0" rIns="0" bIns="0" anchor="ctr">
            <a:spAutoFit/>
          </a:bodyPr>
          <a:lstStyle/>
          <a:p>
            <a:pPr algn="ctr">
              <a:spcAft>
                <a:spcPts val="0"/>
              </a:spcAft>
            </a:pPr>
            <a:r>
              <a:rPr sz="900" b="1" i="0">
                <a:solidFill>
                  <a:srgbClr val="1146BE"/>
                </a:solidFill>
                <a:latin typeface="Aptos"/>
              </a:rPr>
              <a:t>SAMPLE DATA • ACADEMIC USE</a:t>
            </a:r>
          </a:p>
        </p:txBody>
      </p:sp>
      <p:sp>
        <p:nvSpPr>
          <p:cNvPr id="11" name="TextBox 10"/>
          <p:cNvSpPr txBox="1"/>
          <p:nvPr/>
        </p:nvSpPr>
        <p:spPr>
          <a:xfrm>
            <a:off x="804672" y="1874519"/>
            <a:ext cx="1828800" cy="685800"/>
          </a:xfrm>
          <a:prstGeom prst="rect">
            <a:avLst/>
          </a:prstGeom>
          <a:noFill/>
        </p:spPr>
        <p:txBody>
          <a:bodyPr wrap="square" lIns="45720" rIns="45720" anchor="t">
            <a:spAutoFit/>
          </a:bodyPr>
          <a:lstStyle/>
          <a:p>
            <a:pPr algn="l">
              <a:spcAft>
                <a:spcPts val="0"/>
              </a:spcAft>
            </a:pPr>
            <a:r>
              <a:rPr sz="3800" b="1" i="0">
                <a:solidFill>
                  <a:srgbClr val="071C39"/>
                </a:solidFill>
                <a:latin typeface="Aptos"/>
              </a:rPr>
              <a:t>500</a:t>
            </a:r>
          </a:p>
        </p:txBody>
      </p:sp>
      <p:sp>
        <p:nvSpPr>
          <p:cNvPr id="12" name="TextBox 11"/>
          <p:cNvSpPr txBox="1"/>
          <p:nvPr/>
        </p:nvSpPr>
        <p:spPr>
          <a:xfrm>
            <a:off x="841248" y="2542032"/>
            <a:ext cx="3474720" cy="292608"/>
          </a:xfrm>
          <a:prstGeom prst="rect">
            <a:avLst/>
          </a:prstGeom>
          <a:noFill/>
        </p:spPr>
        <p:txBody>
          <a:bodyPr wrap="square" lIns="45720" rIns="45720" anchor="t">
            <a:spAutoFit/>
          </a:bodyPr>
          <a:lstStyle/>
          <a:p>
            <a:pPr algn="l">
              <a:spcAft>
                <a:spcPts val="0"/>
              </a:spcAft>
            </a:pPr>
            <a:r>
              <a:rPr sz="1500" b="0" i="0">
                <a:solidFill>
                  <a:srgbClr val="5F6B79"/>
                </a:solidFill>
                <a:latin typeface="Aptos"/>
              </a:rPr>
              <a:t>fictional employee records</a:t>
            </a:r>
          </a:p>
        </p:txBody>
      </p:sp>
      <p:sp>
        <p:nvSpPr>
          <p:cNvPr id="13" name="TextBox 12"/>
          <p:cNvSpPr txBox="1"/>
          <p:nvPr/>
        </p:nvSpPr>
        <p:spPr>
          <a:xfrm>
            <a:off x="822960" y="3154680"/>
            <a:ext cx="1371600" cy="228600"/>
          </a:xfrm>
          <a:prstGeom prst="rect">
            <a:avLst/>
          </a:prstGeom>
          <a:noFill/>
        </p:spPr>
        <p:txBody>
          <a:bodyPr wrap="square" lIns="45720" rIns="45720" anchor="t">
            <a:spAutoFit/>
          </a:bodyPr>
          <a:lstStyle/>
          <a:p>
            <a:pPr algn="l">
              <a:spcAft>
                <a:spcPts val="0"/>
              </a:spcAft>
            </a:pPr>
            <a:r>
              <a:rPr sz="1200" b="1" i="0">
                <a:solidFill>
                  <a:srgbClr val="1146BE"/>
                </a:solidFill>
                <a:latin typeface="Aptos"/>
              </a:rPr>
              <a:t>Data source</a:t>
            </a:r>
          </a:p>
        </p:txBody>
      </p:sp>
      <p:sp>
        <p:nvSpPr>
          <p:cNvPr id="14" name="TextBox 13"/>
          <p:cNvSpPr txBox="1"/>
          <p:nvPr/>
        </p:nvSpPr>
        <p:spPr>
          <a:xfrm>
            <a:off x="822960" y="3456432"/>
            <a:ext cx="4114800" cy="777240"/>
          </a:xfrm>
          <a:prstGeom prst="rect">
            <a:avLst/>
          </a:prstGeom>
          <a:noFill/>
        </p:spPr>
        <p:txBody>
          <a:bodyPr wrap="square" lIns="45720" rIns="45720" anchor="t">
            <a:spAutoFit/>
          </a:bodyPr>
          <a:lstStyle/>
          <a:p>
            <a:pPr algn="l">
              <a:spcAft>
                <a:spcPts val="0"/>
              </a:spcAft>
            </a:pPr>
            <a:r>
              <a:rPr sz="1500" b="0" i="0">
                <a:solidFill>
                  <a:srgbClr val="1F2A38"/>
                </a:solidFill>
                <a:latin typeface="Aptos"/>
              </a:rPr>
              <a:t>Synthetic/sample HR training data prepared for academic Power BI practice — not real company data.</a:t>
            </a:r>
          </a:p>
        </p:txBody>
      </p:sp>
      <p:sp>
        <p:nvSpPr>
          <p:cNvPr id="15" name="TextBox 14"/>
          <p:cNvSpPr txBox="1"/>
          <p:nvPr/>
        </p:nvSpPr>
        <p:spPr>
          <a:xfrm>
            <a:off x="822960" y="4498848"/>
            <a:ext cx="4023360" cy="320040"/>
          </a:xfrm>
          <a:prstGeom prst="rect">
            <a:avLst/>
          </a:prstGeom>
          <a:noFill/>
        </p:spPr>
        <p:txBody>
          <a:bodyPr wrap="square" lIns="45720" rIns="45720" anchor="t">
            <a:spAutoFit/>
          </a:bodyPr>
          <a:lstStyle/>
          <a:p>
            <a:pPr algn="l">
              <a:spcAft>
                <a:spcPts val="0"/>
              </a:spcAft>
            </a:pPr>
            <a:r>
              <a:rPr sz="1600" b="1" i="0">
                <a:solidFill>
                  <a:srgbClr val="071C39"/>
                </a:solidFill>
                <a:latin typeface="Aptos"/>
              </a:rPr>
              <a:t>Each row represents one employee.</a:t>
            </a:r>
          </a:p>
        </p:txBody>
      </p:sp>
      <p:sp>
        <p:nvSpPr>
          <p:cNvPr id="16" name="TextBox 15"/>
          <p:cNvSpPr txBox="1"/>
          <p:nvPr/>
        </p:nvSpPr>
        <p:spPr>
          <a:xfrm>
            <a:off x="822960" y="4983480"/>
            <a:ext cx="4069080" cy="566928"/>
          </a:xfrm>
          <a:prstGeom prst="rect">
            <a:avLst/>
          </a:prstGeom>
          <a:noFill/>
        </p:spPr>
        <p:txBody>
          <a:bodyPr wrap="square" lIns="45720" rIns="45720" anchor="t">
            <a:spAutoFit/>
          </a:bodyPr>
          <a:lstStyle/>
          <a:p>
            <a:pPr algn="l">
              <a:spcAft>
                <a:spcPts val="0"/>
              </a:spcAft>
            </a:pPr>
            <a:r>
              <a:rPr sz="1300" b="0" i="0">
                <a:solidFill>
                  <a:srgbClr val="5F6B79"/>
                </a:solidFill>
                <a:latin typeface="Aptos"/>
              </a:rPr>
              <a:t>The fields support summaries by department, training status and priority.</a:t>
            </a:r>
          </a:p>
        </p:txBody>
      </p:sp>
      <p:sp>
        <p:nvSpPr>
          <p:cNvPr id="17" name="Rounded Rectangle 16"/>
          <p:cNvSpPr/>
          <p:nvPr/>
        </p:nvSpPr>
        <p:spPr>
          <a:xfrm>
            <a:off x="5623560" y="1143000"/>
            <a:ext cx="6035040" cy="5074920"/>
          </a:xfrm>
          <a:prstGeom prst="roundRect">
            <a:avLst/>
          </a:prstGeom>
          <a:solidFill>
            <a:srgbClr val="FFFFFF"/>
          </a:solidFill>
          <a:ln w="10160">
            <a:solidFill>
              <a:srgbClr val="CF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925312" y="1389888"/>
            <a:ext cx="1828800" cy="228600"/>
          </a:xfrm>
          <a:prstGeom prst="rect">
            <a:avLst/>
          </a:prstGeom>
          <a:noFill/>
        </p:spPr>
        <p:txBody>
          <a:bodyPr wrap="square" lIns="36576" tIns="36576" rIns="36576" bIns="36576">
            <a:spAutoFit/>
          </a:bodyPr>
          <a:lstStyle/>
          <a:p>
            <a:pPr algn="l">
              <a:spcAft>
                <a:spcPts val="0"/>
              </a:spcAft>
            </a:pPr>
            <a:r>
              <a:rPr sz="1100" b="1" i="0">
                <a:solidFill>
                  <a:srgbClr val="1146BE"/>
                </a:solidFill>
                <a:latin typeface="Aptos"/>
              </a:rPr>
              <a:t>KEY FIELDS</a:t>
            </a:r>
          </a:p>
        </p:txBody>
      </p:sp>
      <p:sp>
        <p:nvSpPr>
          <p:cNvPr id="61" name="TextBox 60"/>
          <p:cNvSpPr txBox="1"/>
          <p:nvPr/>
        </p:nvSpPr>
        <p:spPr>
          <a:xfrm>
            <a:off x="5925312" y="1700784"/>
            <a:ext cx="1645920" cy="201168"/>
          </a:xfrm>
          <a:prstGeom prst="rect">
            <a:avLst/>
          </a:prstGeom>
          <a:noFill/>
        </p:spPr>
        <p:txBody>
          <a:bodyPr wrap="square" lIns="36576" tIns="36576" rIns="36576" bIns="36576">
            <a:spAutoFit/>
          </a:bodyPr>
          <a:lstStyle/>
          <a:p>
            <a:pPr algn="l">
              <a:spcAft>
                <a:spcPts val="0"/>
              </a:spcAft>
            </a:pPr>
            <a:r>
              <a:rPr sz="969" b="1" i="0">
                <a:solidFill>
                  <a:srgbClr val="071C39"/>
                </a:solidFill>
                <a:latin typeface="Aptos"/>
              </a:rPr>
              <a:t>Employee ID</a:t>
            </a:r>
          </a:p>
        </p:txBody>
      </p:sp>
      <p:sp>
        <p:nvSpPr>
          <p:cNvPr id="62" name="TextBox 61"/>
          <p:cNvSpPr txBox="1"/>
          <p:nvPr/>
        </p:nvSpPr>
        <p:spPr>
          <a:xfrm>
            <a:off x="7662672" y="1700784"/>
            <a:ext cx="3474720" cy="201168"/>
          </a:xfrm>
          <a:prstGeom prst="rect">
            <a:avLst/>
          </a:prstGeom>
          <a:noFill/>
        </p:spPr>
        <p:txBody>
          <a:bodyPr wrap="square" lIns="36576" tIns="36576" rIns="36576" bIns="36576">
            <a:spAutoFit/>
          </a:bodyPr>
          <a:lstStyle/>
          <a:p>
            <a:pPr algn="l">
              <a:spcAft>
                <a:spcPts val="0"/>
              </a:spcAft>
            </a:pPr>
            <a:r>
              <a:rPr sz="969" b="0" i="0">
                <a:solidFill>
                  <a:srgbClr val="5F6B79"/>
                </a:solidFill>
                <a:latin typeface="Aptos"/>
              </a:rPr>
              <a:t>Employee identifier</a:t>
            </a:r>
          </a:p>
        </p:txBody>
      </p:sp>
      <p:sp>
        <p:nvSpPr>
          <p:cNvPr id="63" name="TextBox 62"/>
          <p:cNvSpPr txBox="1"/>
          <p:nvPr/>
        </p:nvSpPr>
        <p:spPr>
          <a:xfrm>
            <a:off x="5925312" y="2057400"/>
            <a:ext cx="1645920" cy="201168"/>
          </a:xfrm>
          <a:prstGeom prst="rect">
            <a:avLst/>
          </a:prstGeom>
          <a:noFill/>
        </p:spPr>
        <p:txBody>
          <a:bodyPr wrap="square" lIns="36576" tIns="36576" rIns="36576" bIns="36576">
            <a:spAutoFit/>
          </a:bodyPr>
          <a:lstStyle/>
          <a:p>
            <a:pPr algn="l">
              <a:spcAft>
                <a:spcPts val="0"/>
              </a:spcAft>
            </a:pPr>
            <a:r>
              <a:rPr sz="969" b="1" i="0">
                <a:solidFill>
                  <a:srgbClr val="071C39"/>
                </a:solidFill>
                <a:latin typeface="Aptos"/>
              </a:rPr>
              <a:t>Department</a:t>
            </a:r>
          </a:p>
        </p:txBody>
      </p:sp>
      <p:sp>
        <p:nvSpPr>
          <p:cNvPr id="64" name="TextBox 63"/>
          <p:cNvSpPr txBox="1"/>
          <p:nvPr/>
        </p:nvSpPr>
        <p:spPr>
          <a:xfrm>
            <a:off x="7662672" y="2057400"/>
            <a:ext cx="3474720" cy="201168"/>
          </a:xfrm>
          <a:prstGeom prst="rect">
            <a:avLst/>
          </a:prstGeom>
          <a:noFill/>
        </p:spPr>
        <p:txBody>
          <a:bodyPr wrap="square" lIns="36576" tIns="36576" rIns="36576" bIns="36576">
            <a:spAutoFit/>
          </a:bodyPr>
          <a:lstStyle/>
          <a:p>
            <a:pPr algn="l">
              <a:spcAft>
                <a:spcPts val="0"/>
              </a:spcAft>
            </a:pPr>
            <a:r>
              <a:rPr sz="969" b="0" i="0">
                <a:solidFill>
                  <a:srgbClr val="5F6B79"/>
                </a:solidFill>
                <a:latin typeface="Aptos"/>
              </a:rPr>
              <a:t>Groups employees by function</a:t>
            </a:r>
          </a:p>
        </p:txBody>
      </p:sp>
      <p:sp>
        <p:nvSpPr>
          <p:cNvPr id="65" name="TextBox 64"/>
          <p:cNvSpPr txBox="1"/>
          <p:nvPr/>
        </p:nvSpPr>
        <p:spPr>
          <a:xfrm>
            <a:off x="5925312" y="2414016"/>
            <a:ext cx="1645920" cy="201168"/>
          </a:xfrm>
          <a:prstGeom prst="rect">
            <a:avLst/>
          </a:prstGeom>
          <a:noFill/>
        </p:spPr>
        <p:txBody>
          <a:bodyPr wrap="square" lIns="36576" tIns="36576" rIns="36576" bIns="36576">
            <a:spAutoFit/>
          </a:bodyPr>
          <a:lstStyle/>
          <a:p>
            <a:pPr algn="l">
              <a:spcAft>
                <a:spcPts val="0"/>
              </a:spcAft>
            </a:pPr>
            <a:r>
              <a:rPr sz="969" b="1" i="0">
                <a:solidFill>
                  <a:srgbClr val="071C39"/>
                </a:solidFill>
                <a:latin typeface="Aptos"/>
              </a:rPr>
              <a:t>Training Status</a:t>
            </a:r>
          </a:p>
        </p:txBody>
      </p:sp>
      <p:sp>
        <p:nvSpPr>
          <p:cNvPr id="66" name="TextBox 65"/>
          <p:cNvSpPr txBox="1"/>
          <p:nvPr/>
        </p:nvSpPr>
        <p:spPr>
          <a:xfrm>
            <a:off x="7662672" y="2414016"/>
            <a:ext cx="3474720" cy="201168"/>
          </a:xfrm>
          <a:prstGeom prst="rect">
            <a:avLst/>
          </a:prstGeom>
          <a:noFill/>
        </p:spPr>
        <p:txBody>
          <a:bodyPr wrap="square" lIns="36576" tIns="36576" rIns="36576" bIns="36576">
            <a:spAutoFit/>
          </a:bodyPr>
          <a:lstStyle/>
          <a:p>
            <a:pPr algn="l">
              <a:spcAft>
                <a:spcPts val="0"/>
              </a:spcAft>
            </a:pPr>
            <a:r>
              <a:rPr sz="969" b="0" i="0">
                <a:solidFill>
                  <a:srgbClr val="5F6B79"/>
                </a:solidFill>
                <a:latin typeface="Aptos"/>
              </a:rPr>
              <a:t>Completed or Pending</a:t>
            </a:r>
          </a:p>
        </p:txBody>
      </p:sp>
      <p:sp>
        <p:nvSpPr>
          <p:cNvPr id="67" name="TextBox 66"/>
          <p:cNvSpPr txBox="1"/>
          <p:nvPr/>
        </p:nvSpPr>
        <p:spPr>
          <a:xfrm>
            <a:off x="5925312" y="2770632"/>
            <a:ext cx="1645920" cy="201168"/>
          </a:xfrm>
          <a:prstGeom prst="rect">
            <a:avLst/>
          </a:prstGeom>
          <a:noFill/>
        </p:spPr>
        <p:txBody>
          <a:bodyPr wrap="square" lIns="36576" tIns="36576" rIns="36576" bIns="36576">
            <a:spAutoFit/>
          </a:bodyPr>
          <a:lstStyle/>
          <a:p>
            <a:pPr algn="l">
              <a:spcAft>
                <a:spcPts val="0"/>
              </a:spcAft>
            </a:pPr>
            <a:r>
              <a:rPr sz="969" b="1" i="0">
                <a:solidFill>
                  <a:srgbClr val="071C39"/>
                </a:solidFill>
                <a:latin typeface="Aptos"/>
              </a:rPr>
              <a:t>Training Hours</a:t>
            </a:r>
          </a:p>
        </p:txBody>
      </p:sp>
      <p:sp>
        <p:nvSpPr>
          <p:cNvPr id="68" name="TextBox 67"/>
          <p:cNvSpPr txBox="1"/>
          <p:nvPr/>
        </p:nvSpPr>
        <p:spPr>
          <a:xfrm>
            <a:off x="7662672" y="2770632"/>
            <a:ext cx="3474720" cy="201168"/>
          </a:xfrm>
          <a:prstGeom prst="rect">
            <a:avLst/>
          </a:prstGeom>
          <a:noFill/>
        </p:spPr>
        <p:txBody>
          <a:bodyPr wrap="square" lIns="36576" tIns="36576" rIns="36576" bIns="36576">
            <a:spAutoFit/>
          </a:bodyPr>
          <a:lstStyle/>
          <a:p>
            <a:pPr algn="l">
              <a:spcAft>
                <a:spcPts val="0"/>
              </a:spcAft>
            </a:pPr>
            <a:r>
              <a:rPr sz="969" b="0" i="0">
                <a:solidFill>
                  <a:srgbClr val="5F6B79"/>
                </a:solidFill>
                <a:latin typeface="Aptos"/>
              </a:rPr>
              <a:t>Time spent in training</a:t>
            </a:r>
          </a:p>
        </p:txBody>
      </p:sp>
      <p:sp>
        <p:nvSpPr>
          <p:cNvPr id="69" name="TextBox 68"/>
          <p:cNvSpPr txBox="1"/>
          <p:nvPr/>
        </p:nvSpPr>
        <p:spPr>
          <a:xfrm>
            <a:off x="5925312" y="3127248"/>
            <a:ext cx="1645920" cy="201168"/>
          </a:xfrm>
          <a:prstGeom prst="rect">
            <a:avLst/>
          </a:prstGeom>
          <a:noFill/>
        </p:spPr>
        <p:txBody>
          <a:bodyPr wrap="square" lIns="36576" tIns="36576" rIns="36576" bIns="36576">
            <a:spAutoFit/>
          </a:bodyPr>
          <a:lstStyle/>
          <a:p>
            <a:pPr algn="l">
              <a:spcAft>
                <a:spcPts val="0"/>
              </a:spcAft>
            </a:pPr>
            <a:r>
              <a:rPr sz="969" b="1" i="0">
                <a:solidFill>
                  <a:srgbClr val="071C39"/>
                </a:solidFill>
                <a:latin typeface="Aptos"/>
              </a:rPr>
              <a:t>Training Priority</a:t>
            </a:r>
          </a:p>
        </p:txBody>
      </p:sp>
      <p:sp>
        <p:nvSpPr>
          <p:cNvPr id="70" name="TextBox 69"/>
          <p:cNvSpPr txBox="1"/>
          <p:nvPr/>
        </p:nvSpPr>
        <p:spPr>
          <a:xfrm>
            <a:off x="7662672" y="3127248"/>
            <a:ext cx="3474720" cy="201168"/>
          </a:xfrm>
          <a:prstGeom prst="rect">
            <a:avLst/>
          </a:prstGeom>
          <a:noFill/>
        </p:spPr>
        <p:txBody>
          <a:bodyPr wrap="square" lIns="36576" tIns="36576" rIns="36576" bIns="36576">
            <a:spAutoFit/>
          </a:bodyPr>
          <a:lstStyle/>
          <a:p>
            <a:pPr algn="l">
              <a:spcAft>
                <a:spcPts val="0"/>
              </a:spcAft>
            </a:pPr>
            <a:r>
              <a:rPr sz="969" b="0" i="0">
                <a:solidFill>
                  <a:srgbClr val="5F6B79"/>
                </a:solidFill>
                <a:latin typeface="Aptos"/>
              </a:rPr>
              <a:t>High, Medium or Low</a:t>
            </a:r>
          </a:p>
        </p:txBody>
      </p:sp>
      <p:sp>
        <p:nvSpPr>
          <p:cNvPr id="73" name="Rectangle 72"/>
          <p:cNvSpPr/>
          <p:nvPr/>
        </p:nvSpPr>
        <p:spPr>
          <a:xfrm>
            <a:off x="5806440" y="3886200"/>
            <a:ext cx="5623560" cy="202996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5925312" y="3950208"/>
            <a:ext cx="2743200" cy="182880"/>
          </a:xfrm>
          <a:prstGeom prst="rect">
            <a:avLst/>
          </a:prstGeom>
          <a:noFill/>
        </p:spPr>
        <p:txBody>
          <a:bodyPr wrap="square" lIns="36576" tIns="36576" rIns="36576" bIns="36576">
            <a:spAutoFit/>
          </a:bodyPr>
          <a:lstStyle/>
          <a:p>
            <a:pPr algn="l">
              <a:spcAft>
                <a:spcPts val="0"/>
              </a:spcAft>
            </a:pPr>
            <a:r>
              <a:rPr sz="869" b="1" i="0">
                <a:solidFill>
                  <a:srgbClr val="1146BE"/>
                </a:solidFill>
                <a:latin typeface="Aptos"/>
              </a:rPr>
              <a:t>TRAINING PRIORITY  |  500 EMPLOYEES</a:t>
            </a:r>
          </a:p>
        </p:txBody>
      </p:sp>
      <p:sp>
        <p:nvSpPr>
          <p:cNvPr id="3001" name="Priority label Medium"/>
          <p:cNvSpPr txBox="1"/>
          <p:nvPr/>
        </p:nvSpPr>
        <p:spPr>
          <a:xfrm>
            <a:off x="5925312" y="4330000"/>
            <a:ext cx="1150000" cy="230000"/>
          </a:xfrm>
          <a:prstGeom prst="rect">
            <a:avLst/>
          </a:prstGeom>
          <a:noFill/>
        </p:spPr>
        <p:txBody>
          <a:bodyPr wrap="square" lIns="45720" tIns="0" rIns="45720" bIns="0" anchor="ctr"/>
          <a:lstStyle/>
          <a:p>
            <a:pPr algn="l">
              <a:spcAft>
                <a:spcPts val="0"/>
              </a:spcAft>
            </a:pPr>
            <a:r>
              <a:rPr lang="en-US" sz="1200" b="1" i="0" dirty="0">
                <a:solidFill>
                  <a:srgbClr val="1F2A38"/>
                </a:solidFill>
                <a:latin typeface="Aptos"/>
              </a:rPr>
              <a:t>Medium</a:t>
            </a:r>
          </a:p>
        </p:txBody>
      </p:sp>
      <p:sp>
        <p:nvSpPr>
          <p:cNvPr id="3002" name="Priority track Medium"/>
          <p:cNvSpPr/>
          <p:nvPr/>
        </p:nvSpPr>
        <p:spPr>
          <a:xfrm>
            <a:off x="7150000" y="4340000"/>
            <a:ext cx="3000000" cy="210000"/>
          </a:xfrm>
          <a:prstGeom prst="rect">
            <a:avLst/>
          </a:prstGeom>
          <a:solidFill>
            <a:srgbClr val="E6EEF8"/>
          </a:solidFill>
          <a:ln>
            <a:noFill/>
          </a:ln>
          <a:effectLst/>
        </p:spPr>
        <p:txBody>
          <a:bodyPr rtlCol="0" anchor="ctr"/>
          <a:lstStyle/>
          <a:p>
            <a:pPr algn="ctr"/>
            <a:endParaRPr lang="en-US"/>
          </a:p>
        </p:txBody>
      </p:sp>
      <p:sp>
        <p:nvSpPr>
          <p:cNvPr id="3003" name="Priority bar Medium"/>
          <p:cNvSpPr/>
          <p:nvPr/>
        </p:nvSpPr>
        <p:spPr>
          <a:xfrm>
            <a:off x="7150000" y="4340000"/>
            <a:ext cx="1668000" cy="210000"/>
          </a:xfrm>
          <a:prstGeom prst="rect">
            <a:avLst/>
          </a:prstGeom>
          <a:solidFill>
            <a:srgbClr val="E8743B"/>
          </a:solidFill>
          <a:ln>
            <a:noFill/>
          </a:ln>
          <a:effectLst/>
        </p:spPr>
        <p:txBody>
          <a:bodyPr rtlCol="0" anchor="ctr"/>
          <a:lstStyle/>
          <a:p>
            <a:pPr algn="ctr"/>
            <a:endParaRPr lang="en-US"/>
          </a:p>
        </p:txBody>
      </p:sp>
      <p:sp>
        <p:nvSpPr>
          <p:cNvPr id="3004" name="Priority value Medium"/>
          <p:cNvSpPr txBox="1"/>
          <p:nvPr/>
        </p:nvSpPr>
        <p:spPr>
          <a:xfrm>
            <a:off x="10250000" y="4330000"/>
            <a:ext cx="1150000" cy="230000"/>
          </a:xfrm>
          <a:prstGeom prst="rect">
            <a:avLst/>
          </a:prstGeom>
          <a:noFill/>
        </p:spPr>
        <p:txBody>
          <a:bodyPr wrap="square" lIns="45720" tIns="0" rIns="45720" bIns="0" anchor="ctr"/>
          <a:lstStyle/>
          <a:p>
            <a:pPr algn="l">
              <a:spcAft>
                <a:spcPts val="0"/>
              </a:spcAft>
            </a:pPr>
            <a:r>
              <a:rPr lang="en-US" sz="1200" b="1" i="0" dirty="0">
                <a:solidFill>
                  <a:srgbClr val="1F2A38"/>
                </a:solidFill>
                <a:latin typeface="Aptos"/>
              </a:rPr>
              <a:t>278 (55.6%)</a:t>
            </a:r>
          </a:p>
        </p:txBody>
      </p:sp>
      <p:sp>
        <p:nvSpPr>
          <p:cNvPr id="3005" name="Priority label High"/>
          <p:cNvSpPr txBox="1"/>
          <p:nvPr/>
        </p:nvSpPr>
        <p:spPr>
          <a:xfrm>
            <a:off x="5925312" y="4720000"/>
            <a:ext cx="1150000" cy="230000"/>
          </a:xfrm>
          <a:prstGeom prst="rect">
            <a:avLst/>
          </a:prstGeom>
          <a:noFill/>
        </p:spPr>
        <p:txBody>
          <a:bodyPr wrap="square" lIns="45720" tIns="0" rIns="45720" bIns="0" anchor="ctr"/>
          <a:lstStyle/>
          <a:p>
            <a:pPr algn="l">
              <a:spcAft>
                <a:spcPts val="0"/>
              </a:spcAft>
            </a:pPr>
            <a:r>
              <a:rPr lang="en-US" sz="1200" b="1" i="0" dirty="0">
                <a:solidFill>
                  <a:srgbClr val="1F2A38"/>
                </a:solidFill>
                <a:latin typeface="Aptos"/>
              </a:rPr>
              <a:t>High</a:t>
            </a:r>
          </a:p>
        </p:txBody>
      </p:sp>
      <p:sp>
        <p:nvSpPr>
          <p:cNvPr id="3006" name="Priority track High"/>
          <p:cNvSpPr/>
          <p:nvPr/>
        </p:nvSpPr>
        <p:spPr>
          <a:xfrm>
            <a:off x="7150000" y="4730000"/>
            <a:ext cx="3000000" cy="210000"/>
          </a:xfrm>
          <a:prstGeom prst="rect">
            <a:avLst/>
          </a:prstGeom>
          <a:solidFill>
            <a:srgbClr val="E6EEF8"/>
          </a:solidFill>
          <a:ln>
            <a:noFill/>
          </a:ln>
          <a:effectLst/>
        </p:spPr>
        <p:txBody>
          <a:bodyPr rtlCol="0" anchor="ctr"/>
          <a:lstStyle/>
          <a:p>
            <a:pPr algn="ctr"/>
            <a:endParaRPr lang="en-US"/>
          </a:p>
        </p:txBody>
      </p:sp>
      <p:sp>
        <p:nvSpPr>
          <p:cNvPr id="3007" name="Priority bar High"/>
          <p:cNvSpPr/>
          <p:nvPr/>
        </p:nvSpPr>
        <p:spPr>
          <a:xfrm>
            <a:off x="7150000" y="4730000"/>
            <a:ext cx="1230000" cy="210000"/>
          </a:xfrm>
          <a:prstGeom prst="rect">
            <a:avLst/>
          </a:prstGeom>
          <a:solidFill>
            <a:srgbClr val="1C8FF5"/>
          </a:solidFill>
          <a:ln>
            <a:noFill/>
          </a:ln>
          <a:effectLst/>
        </p:spPr>
        <p:txBody>
          <a:bodyPr rtlCol="0" anchor="ctr"/>
          <a:lstStyle/>
          <a:p>
            <a:pPr algn="ctr"/>
            <a:endParaRPr lang="en-US"/>
          </a:p>
        </p:txBody>
      </p:sp>
      <p:sp>
        <p:nvSpPr>
          <p:cNvPr id="3008" name="Priority value High"/>
          <p:cNvSpPr txBox="1"/>
          <p:nvPr/>
        </p:nvSpPr>
        <p:spPr>
          <a:xfrm>
            <a:off x="10250000" y="4720000"/>
            <a:ext cx="1150000" cy="230000"/>
          </a:xfrm>
          <a:prstGeom prst="rect">
            <a:avLst/>
          </a:prstGeom>
          <a:noFill/>
        </p:spPr>
        <p:txBody>
          <a:bodyPr wrap="square" lIns="45720" tIns="0" rIns="45720" bIns="0" anchor="ctr"/>
          <a:lstStyle/>
          <a:p>
            <a:pPr algn="l">
              <a:spcAft>
                <a:spcPts val="0"/>
              </a:spcAft>
            </a:pPr>
            <a:r>
              <a:rPr lang="en-US" sz="1200" b="1" i="0" dirty="0">
                <a:solidFill>
                  <a:srgbClr val="1F2A38"/>
                </a:solidFill>
                <a:latin typeface="Aptos"/>
              </a:rPr>
              <a:t>205 (41.0%)</a:t>
            </a:r>
          </a:p>
        </p:txBody>
      </p:sp>
      <p:sp>
        <p:nvSpPr>
          <p:cNvPr id="3009" name="Priority label Low"/>
          <p:cNvSpPr txBox="1"/>
          <p:nvPr/>
        </p:nvSpPr>
        <p:spPr>
          <a:xfrm>
            <a:off x="5925312" y="5110000"/>
            <a:ext cx="1150000" cy="230000"/>
          </a:xfrm>
          <a:prstGeom prst="rect">
            <a:avLst/>
          </a:prstGeom>
          <a:noFill/>
        </p:spPr>
        <p:txBody>
          <a:bodyPr wrap="square" lIns="45720" tIns="0" rIns="45720" bIns="0" anchor="ctr"/>
          <a:lstStyle/>
          <a:p>
            <a:pPr algn="l">
              <a:spcAft>
                <a:spcPts val="0"/>
              </a:spcAft>
            </a:pPr>
            <a:r>
              <a:rPr lang="en-US" sz="1200" b="1" i="0" dirty="0">
                <a:solidFill>
                  <a:srgbClr val="1F2A38"/>
                </a:solidFill>
                <a:latin typeface="Aptos"/>
              </a:rPr>
              <a:t>Low</a:t>
            </a:r>
          </a:p>
        </p:txBody>
      </p:sp>
      <p:sp>
        <p:nvSpPr>
          <p:cNvPr id="3010" name="Priority track Low"/>
          <p:cNvSpPr/>
          <p:nvPr/>
        </p:nvSpPr>
        <p:spPr>
          <a:xfrm>
            <a:off x="7150000" y="5120000"/>
            <a:ext cx="3000000" cy="210000"/>
          </a:xfrm>
          <a:prstGeom prst="rect">
            <a:avLst/>
          </a:prstGeom>
          <a:solidFill>
            <a:srgbClr val="E6EEF8"/>
          </a:solidFill>
          <a:ln>
            <a:noFill/>
          </a:ln>
          <a:effectLst/>
        </p:spPr>
        <p:txBody>
          <a:bodyPr rtlCol="0" anchor="ctr"/>
          <a:lstStyle/>
          <a:p>
            <a:pPr algn="ctr"/>
            <a:endParaRPr lang="en-US"/>
          </a:p>
        </p:txBody>
      </p:sp>
      <p:sp>
        <p:nvSpPr>
          <p:cNvPr id="3011" name="Priority bar Low"/>
          <p:cNvSpPr/>
          <p:nvPr/>
        </p:nvSpPr>
        <p:spPr>
          <a:xfrm>
            <a:off x="7150000" y="5120000"/>
            <a:ext cx="102000" cy="210000"/>
          </a:xfrm>
          <a:prstGeom prst="rect">
            <a:avLst/>
          </a:prstGeom>
          <a:solidFill>
            <a:srgbClr val="14248A"/>
          </a:solidFill>
          <a:ln>
            <a:noFill/>
          </a:ln>
          <a:effectLst/>
        </p:spPr>
        <p:txBody>
          <a:bodyPr rtlCol="0" anchor="ctr"/>
          <a:lstStyle/>
          <a:p>
            <a:pPr algn="ctr"/>
            <a:endParaRPr lang="en-US"/>
          </a:p>
        </p:txBody>
      </p:sp>
      <p:sp>
        <p:nvSpPr>
          <p:cNvPr id="3012" name="Priority value Low"/>
          <p:cNvSpPr txBox="1"/>
          <p:nvPr/>
        </p:nvSpPr>
        <p:spPr>
          <a:xfrm>
            <a:off x="10250000" y="5110000"/>
            <a:ext cx="1150000" cy="230000"/>
          </a:xfrm>
          <a:prstGeom prst="rect">
            <a:avLst/>
          </a:prstGeom>
          <a:noFill/>
        </p:spPr>
        <p:txBody>
          <a:bodyPr wrap="square" lIns="45720" tIns="0" rIns="45720" bIns="0" anchor="ctr"/>
          <a:lstStyle/>
          <a:p>
            <a:pPr algn="l">
              <a:spcAft>
                <a:spcPts val="0"/>
              </a:spcAft>
            </a:pPr>
            <a:r>
              <a:rPr lang="en-US" sz="1200" b="1" i="0" dirty="0">
                <a:solidFill>
                  <a:srgbClr val="1F2A38"/>
                </a:solidFill>
                <a:latin typeface="Aptos"/>
              </a:rPr>
              <a:t>17 (3.4%)</a:t>
            </a:r>
          </a:p>
        </p:txBody>
      </p:sp>
      <p:sp>
        <p:nvSpPr>
          <p:cNvPr id="3013" name="Priority source"/>
          <p:cNvSpPr txBox="1"/>
          <p:nvPr/>
        </p:nvSpPr>
        <p:spPr>
          <a:xfrm>
            <a:off x="5925312" y="5560000"/>
            <a:ext cx="5300000" cy="200000"/>
          </a:xfrm>
          <a:prstGeom prst="rect">
            <a:avLst/>
          </a:prstGeom>
          <a:noFill/>
        </p:spPr>
        <p:txBody>
          <a:bodyPr wrap="square" lIns="45720" tIns="0" rIns="45720" bIns="0" anchor="t"/>
          <a:lstStyle/>
          <a:p>
            <a:pPr algn="l">
              <a:spcAft>
                <a:spcPts val="0"/>
              </a:spcAft>
            </a:pPr>
            <a:r>
              <a:rPr lang="en-US" sz="1000" b="0" i="1" dirty="0">
                <a:solidFill>
                  <a:srgbClr val="5F6B79"/>
                </a:solidFill>
                <a:latin typeface="Aptos"/>
              </a:rPr>
              <a:t>Source: Training Priority chart in the Power BI dashboard.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698480" cy="502920"/>
          </a:xfrm>
          <a:prstGeom prst="rect">
            <a:avLst/>
          </a:prstGeom>
          <a:noFill/>
        </p:spPr>
        <p:txBody>
          <a:bodyPr wrap="square" lIns="45720" rIns="45720" anchor="t">
            <a:spAutoFit/>
          </a:bodyPr>
          <a:lstStyle/>
          <a:p>
            <a:pPr algn="l">
              <a:spcAft>
                <a:spcPts val="0"/>
              </a:spcAft>
            </a:pPr>
            <a:r>
              <a:rPr sz="2600" b="1" i="0">
                <a:solidFill>
                  <a:srgbClr val="FFFFFF"/>
                </a:solidFill>
                <a:latin typeface="Aptos"/>
              </a:rPr>
              <a:t>Key Performance Indicators</a:t>
            </a:r>
          </a:p>
        </p:txBody>
      </p:sp>
      <p:sp>
        <p:nvSpPr>
          <p:cNvPr id="4" name="Rectangle 3"/>
          <p:cNvSpPr/>
          <p:nvPr/>
        </p:nvSpPr>
        <p:spPr>
          <a:xfrm>
            <a:off x="530352" y="850392"/>
            <a:ext cx="713232" cy="50292"/>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44200" y="6528816"/>
            <a:ext cx="914400" cy="164592"/>
          </a:xfrm>
          <a:prstGeom prst="rect">
            <a:avLst/>
          </a:prstGeom>
          <a:noFill/>
        </p:spPr>
        <p:txBody>
          <a:bodyPr wrap="square" lIns="45720" rIns="45720" anchor="t">
            <a:spAutoFit/>
          </a:bodyPr>
          <a:lstStyle/>
          <a:p>
            <a:pPr algn="r">
              <a:spcAft>
                <a:spcPts val="0"/>
              </a:spcAft>
            </a:pPr>
            <a:r>
              <a:rPr sz="900" b="0" i="0">
                <a:solidFill>
                  <a:srgbClr val="B0C2D8"/>
                </a:solidFill>
                <a:latin typeface="Aptos"/>
              </a:rPr>
              <a:t>03  /  09</a:t>
            </a:r>
          </a:p>
        </p:txBody>
      </p:sp>
      <p:sp>
        <p:nvSpPr>
          <p:cNvPr id="8" name="TextBox 7"/>
          <p:cNvSpPr txBox="1"/>
          <p:nvPr/>
        </p:nvSpPr>
        <p:spPr>
          <a:xfrm>
            <a:off x="566928" y="1024128"/>
            <a:ext cx="10789920" cy="384048"/>
          </a:xfrm>
          <a:prstGeom prst="rect">
            <a:avLst/>
          </a:prstGeom>
          <a:noFill/>
        </p:spPr>
        <p:txBody>
          <a:bodyPr wrap="square" lIns="45720" rIns="45720" anchor="t">
            <a:spAutoFit/>
          </a:bodyPr>
          <a:lstStyle/>
          <a:p>
            <a:pPr algn="l">
              <a:spcAft>
                <a:spcPts val="0"/>
              </a:spcAft>
            </a:pPr>
            <a:r>
              <a:rPr sz="1400" b="0">
                <a:solidFill>
                  <a:srgbClr val="D5E2F2"/>
                </a:solidFill>
                <a:latin typeface="Aptos"/>
              </a:rPr>
              <a:t>These three measures give HR a quick snapshot of training progress.</a:t>
            </a:r>
          </a:p>
        </p:txBody>
      </p:sp>
      <p:sp>
        <p:nvSpPr>
          <p:cNvPr id="9" name="Rounded Rectangle 8"/>
          <p:cNvSpPr/>
          <p:nvPr/>
        </p:nvSpPr>
        <p:spPr>
          <a:xfrm>
            <a:off x="566928" y="1737360"/>
            <a:ext cx="3493008" cy="3337560"/>
          </a:xfrm>
          <a:prstGeom prst="roundRect">
            <a:avLst/>
          </a:prstGeom>
          <a:solidFill>
            <a:srgbClr val="FFFFFF"/>
          </a:solidFill>
          <a:ln w="10160">
            <a:solidFill>
              <a:srgbClr val="C9D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1737360"/>
            <a:ext cx="3493008" cy="109728"/>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5528" y="2084831"/>
            <a:ext cx="3063240" cy="320040"/>
          </a:xfrm>
          <a:prstGeom prst="rect">
            <a:avLst/>
          </a:prstGeom>
          <a:noFill/>
        </p:spPr>
        <p:txBody>
          <a:bodyPr wrap="square" lIns="45720" rIns="45720" anchor="t">
            <a:spAutoFit/>
          </a:bodyPr>
          <a:lstStyle/>
          <a:p>
            <a:pPr algn="l">
              <a:spcAft>
                <a:spcPts val="0"/>
              </a:spcAft>
            </a:pPr>
            <a:r>
              <a:rPr sz="1100" b="1" i="0">
                <a:solidFill>
                  <a:srgbClr val="5F6B79"/>
                </a:solidFill>
                <a:latin typeface="Aptos"/>
              </a:rPr>
              <a:t>TOTAL EMPLOYEES</a:t>
            </a:r>
          </a:p>
        </p:txBody>
      </p:sp>
      <p:sp>
        <p:nvSpPr>
          <p:cNvPr id="12" name="TextBox 11"/>
          <p:cNvSpPr txBox="1"/>
          <p:nvPr/>
        </p:nvSpPr>
        <p:spPr>
          <a:xfrm>
            <a:off x="795528" y="2606040"/>
            <a:ext cx="2971800" cy="822960"/>
          </a:xfrm>
          <a:prstGeom prst="rect">
            <a:avLst/>
          </a:prstGeom>
          <a:noFill/>
        </p:spPr>
        <p:txBody>
          <a:bodyPr wrap="square" lIns="45720" rIns="45720" anchor="t">
            <a:spAutoFit/>
          </a:bodyPr>
          <a:lstStyle/>
          <a:p>
            <a:pPr algn="l">
              <a:spcAft>
                <a:spcPts val="0"/>
              </a:spcAft>
            </a:pPr>
            <a:r>
              <a:rPr sz="3800" b="1" i="0">
                <a:solidFill>
                  <a:srgbClr val="071C39"/>
                </a:solidFill>
                <a:latin typeface="Aptos"/>
              </a:rPr>
              <a:t>500</a:t>
            </a:r>
          </a:p>
        </p:txBody>
      </p:sp>
      <p:sp>
        <p:nvSpPr>
          <p:cNvPr id="13" name="TextBox 12"/>
          <p:cNvSpPr txBox="1"/>
          <p:nvPr/>
        </p:nvSpPr>
        <p:spPr>
          <a:xfrm>
            <a:off x="795528" y="3611880"/>
            <a:ext cx="3017520" cy="347472"/>
          </a:xfrm>
          <a:prstGeom prst="rect">
            <a:avLst/>
          </a:prstGeom>
          <a:noFill/>
        </p:spPr>
        <p:txBody>
          <a:bodyPr wrap="square" lIns="45720" rIns="45720" anchor="t">
            <a:spAutoFit/>
          </a:bodyPr>
          <a:lstStyle/>
          <a:p>
            <a:pPr algn="l">
              <a:spcAft>
                <a:spcPts val="0"/>
              </a:spcAft>
            </a:pPr>
            <a:r>
              <a:rPr sz="1200" b="1" i="0">
                <a:solidFill>
                  <a:srgbClr val="1C8FF5"/>
                </a:solidFill>
                <a:latin typeface="Aptos"/>
              </a:rPr>
              <a:t>Employee count</a:t>
            </a:r>
          </a:p>
        </p:txBody>
      </p:sp>
      <p:sp>
        <p:nvSpPr>
          <p:cNvPr id="14" name="TextBox 13"/>
          <p:cNvSpPr txBox="1"/>
          <p:nvPr/>
        </p:nvSpPr>
        <p:spPr>
          <a:xfrm>
            <a:off x="795528" y="4096512"/>
            <a:ext cx="2971800" cy="621792"/>
          </a:xfrm>
          <a:prstGeom prst="rect">
            <a:avLst/>
          </a:prstGeom>
          <a:noFill/>
        </p:spPr>
        <p:txBody>
          <a:bodyPr wrap="square" lIns="45720" rIns="45720" anchor="t">
            <a:spAutoFit/>
          </a:bodyPr>
          <a:lstStyle/>
          <a:p>
            <a:pPr algn="l">
              <a:spcAft>
                <a:spcPts val="0"/>
              </a:spcAft>
            </a:pPr>
            <a:r>
              <a:rPr sz="1300" b="0" i="0">
                <a:solidFill>
                  <a:srgbClr val="1F2A38"/>
                </a:solidFill>
                <a:latin typeface="Aptos"/>
              </a:rPr>
              <a:t>Workforce records represented in the dashboard.</a:t>
            </a:r>
          </a:p>
        </p:txBody>
      </p:sp>
      <p:sp>
        <p:nvSpPr>
          <p:cNvPr id="15" name="Rectangle 14"/>
          <p:cNvSpPr/>
          <p:nvPr/>
        </p:nvSpPr>
        <p:spPr>
          <a:xfrm>
            <a:off x="795528" y="4736592"/>
            <a:ext cx="640080" cy="50292"/>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389120" y="1737360"/>
            <a:ext cx="3493008" cy="3337560"/>
          </a:xfrm>
          <a:prstGeom prst="roundRect">
            <a:avLst/>
          </a:prstGeom>
          <a:solidFill>
            <a:srgbClr val="FFFFFF"/>
          </a:solidFill>
          <a:ln w="10160">
            <a:solidFill>
              <a:srgbClr val="C9D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89120" y="1737360"/>
            <a:ext cx="3493008" cy="109728"/>
          </a:xfrm>
          <a:prstGeom prst="rect">
            <a:avLst/>
          </a:prstGeom>
          <a:solidFill>
            <a:srgbClr val="145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084831"/>
            <a:ext cx="3063240" cy="320040"/>
          </a:xfrm>
          <a:prstGeom prst="rect">
            <a:avLst/>
          </a:prstGeom>
          <a:noFill/>
        </p:spPr>
        <p:txBody>
          <a:bodyPr wrap="square" lIns="45720" rIns="45720" anchor="t">
            <a:spAutoFit/>
          </a:bodyPr>
          <a:lstStyle/>
          <a:p>
            <a:pPr algn="l">
              <a:spcAft>
                <a:spcPts val="0"/>
              </a:spcAft>
            </a:pPr>
            <a:r>
              <a:rPr sz="1100" b="1" i="0">
                <a:solidFill>
                  <a:srgbClr val="5F6B79"/>
                </a:solidFill>
                <a:latin typeface="Aptos"/>
              </a:rPr>
              <a:t>AVERAGE TRAINING HOURS</a:t>
            </a:r>
          </a:p>
        </p:txBody>
      </p:sp>
      <p:sp>
        <p:nvSpPr>
          <p:cNvPr id="19" name="TextBox 18"/>
          <p:cNvSpPr txBox="1"/>
          <p:nvPr/>
        </p:nvSpPr>
        <p:spPr>
          <a:xfrm>
            <a:off x="4617720" y="2606040"/>
            <a:ext cx="2971800" cy="822960"/>
          </a:xfrm>
          <a:prstGeom prst="rect">
            <a:avLst/>
          </a:prstGeom>
          <a:noFill/>
        </p:spPr>
        <p:txBody>
          <a:bodyPr wrap="square" lIns="45720" rIns="45720" anchor="t">
            <a:spAutoFit/>
          </a:bodyPr>
          <a:lstStyle/>
          <a:p>
            <a:pPr algn="l">
              <a:spcAft>
                <a:spcPts val="0"/>
              </a:spcAft>
            </a:pPr>
            <a:r>
              <a:rPr sz="3800" b="1" i="0">
                <a:solidFill>
                  <a:srgbClr val="071C39"/>
                </a:solidFill>
                <a:latin typeface="Aptos"/>
              </a:rPr>
              <a:t>13.9</a:t>
            </a:r>
          </a:p>
        </p:txBody>
      </p:sp>
      <p:sp>
        <p:nvSpPr>
          <p:cNvPr id="20" name="TextBox 19"/>
          <p:cNvSpPr txBox="1"/>
          <p:nvPr/>
        </p:nvSpPr>
        <p:spPr>
          <a:xfrm>
            <a:off x="4617720" y="3611880"/>
            <a:ext cx="3017520" cy="347472"/>
          </a:xfrm>
          <a:prstGeom prst="rect">
            <a:avLst/>
          </a:prstGeom>
          <a:noFill/>
        </p:spPr>
        <p:txBody>
          <a:bodyPr wrap="square" lIns="45720" rIns="45720" anchor="t">
            <a:spAutoFit/>
          </a:bodyPr>
          <a:lstStyle/>
          <a:p>
            <a:pPr algn="l">
              <a:spcAft>
                <a:spcPts val="0"/>
              </a:spcAft>
            </a:pPr>
            <a:r>
              <a:rPr sz="1200" b="1" i="0">
                <a:solidFill>
                  <a:srgbClr val="1457C4"/>
                </a:solidFill>
                <a:latin typeface="Aptos"/>
              </a:rPr>
              <a:t>Average of Training Hours</a:t>
            </a:r>
          </a:p>
        </p:txBody>
      </p:sp>
      <p:sp>
        <p:nvSpPr>
          <p:cNvPr id="21" name="TextBox 20"/>
          <p:cNvSpPr txBox="1"/>
          <p:nvPr/>
        </p:nvSpPr>
        <p:spPr>
          <a:xfrm>
            <a:off x="4617720" y="4096512"/>
            <a:ext cx="2971800" cy="621792"/>
          </a:xfrm>
          <a:prstGeom prst="rect">
            <a:avLst/>
          </a:prstGeom>
          <a:noFill/>
        </p:spPr>
        <p:txBody>
          <a:bodyPr wrap="square" lIns="45720" rIns="45720" anchor="t">
            <a:spAutoFit/>
          </a:bodyPr>
          <a:lstStyle/>
          <a:p>
            <a:pPr algn="l">
              <a:spcAft>
                <a:spcPts val="0"/>
              </a:spcAft>
            </a:pPr>
            <a:r>
              <a:rPr sz="1300" b="0" i="0">
                <a:solidFill>
                  <a:srgbClr val="1F2A38"/>
                </a:solidFill>
                <a:latin typeface="Aptos"/>
              </a:rPr>
              <a:t>Displayed average training time per employee.</a:t>
            </a:r>
          </a:p>
        </p:txBody>
      </p:sp>
      <p:sp>
        <p:nvSpPr>
          <p:cNvPr id="22" name="Rectangle 21"/>
          <p:cNvSpPr/>
          <p:nvPr/>
        </p:nvSpPr>
        <p:spPr>
          <a:xfrm>
            <a:off x="4617720" y="4736592"/>
            <a:ext cx="640080" cy="50292"/>
          </a:xfrm>
          <a:prstGeom prst="rect">
            <a:avLst/>
          </a:prstGeom>
          <a:solidFill>
            <a:srgbClr val="1457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211311" y="1737360"/>
            <a:ext cx="3493008" cy="3337560"/>
          </a:xfrm>
          <a:prstGeom prst="roundRect">
            <a:avLst/>
          </a:prstGeom>
          <a:solidFill>
            <a:srgbClr val="FFFFFF"/>
          </a:solidFill>
          <a:ln w="10160">
            <a:solidFill>
              <a:srgbClr val="C9D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211311" y="1737360"/>
            <a:ext cx="3493008" cy="109728"/>
          </a:xfrm>
          <a:prstGeom prst="rect">
            <a:avLst/>
          </a:prstGeom>
          <a:solidFill>
            <a:srgbClr val="007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39911" y="2084831"/>
            <a:ext cx="3063240" cy="320040"/>
          </a:xfrm>
          <a:prstGeom prst="rect">
            <a:avLst/>
          </a:prstGeom>
          <a:noFill/>
        </p:spPr>
        <p:txBody>
          <a:bodyPr wrap="square" lIns="45720" rIns="45720" anchor="t">
            <a:spAutoFit/>
          </a:bodyPr>
          <a:lstStyle/>
          <a:p>
            <a:pPr algn="l">
              <a:spcAft>
                <a:spcPts val="0"/>
              </a:spcAft>
            </a:pPr>
            <a:r>
              <a:rPr sz="1100" b="1" i="0">
                <a:solidFill>
                  <a:srgbClr val="5F6B79"/>
                </a:solidFill>
                <a:latin typeface="Aptos"/>
              </a:rPr>
              <a:t>PENDING TRAINING</a:t>
            </a:r>
          </a:p>
        </p:txBody>
      </p:sp>
      <p:sp>
        <p:nvSpPr>
          <p:cNvPr id="26" name="TextBox 25"/>
          <p:cNvSpPr txBox="1"/>
          <p:nvPr/>
        </p:nvSpPr>
        <p:spPr>
          <a:xfrm>
            <a:off x="8439911" y="2606040"/>
            <a:ext cx="2971800" cy="822960"/>
          </a:xfrm>
          <a:prstGeom prst="rect">
            <a:avLst/>
          </a:prstGeom>
          <a:noFill/>
        </p:spPr>
        <p:txBody>
          <a:bodyPr wrap="square" lIns="45720" rIns="45720" anchor="t">
            <a:spAutoFit/>
          </a:bodyPr>
          <a:lstStyle/>
          <a:p>
            <a:pPr algn="l">
              <a:spcAft>
                <a:spcPts val="0"/>
              </a:spcAft>
            </a:pPr>
            <a:r>
              <a:rPr sz="3800" b="1" i="0">
                <a:solidFill>
                  <a:srgbClr val="071C39"/>
                </a:solidFill>
                <a:latin typeface="Aptos"/>
              </a:rPr>
              <a:t>215</a:t>
            </a:r>
          </a:p>
        </p:txBody>
      </p:sp>
      <p:sp>
        <p:nvSpPr>
          <p:cNvPr id="27" name="TextBox 26"/>
          <p:cNvSpPr txBox="1"/>
          <p:nvPr/>
        </p:nvSpPr>
        <p:spPr>
          <a:xfrm>
            <a:off x="8439911" y="3611880"/>
            <a:ext cx="3017520" cy="347472"/>
          </a:xfrm>
          <a:prstGeom prst="rect">
            <a:avLst/>
          </a:prstGeom>
          <a:noFill/>
        </p:spPr>
        <p:txBody>
          <a:bodyPr wrap="square" lIns="45720" rIns="45720" anchor="t">
            <a:spAutoFit/>
          </a:bodyPr>
          <a:lstStyle/>
          <a:p>
            <a:pPr algn="l">
              <a:spcAft>
                <a:spcPts val="0"/>
              </a:spcAft>
            </a:pPr>
            <a:r>
              <a:rPr sz="1200" b="1" i="0">
                <a:solidFill>
                  <a:srgbClr val="0077D2"/>
                </a:solidFill>
                <a:latin typeface="Aptos"/>
              </a:rPr>
              <a:t>Count where status = Pending</a:t>
            </a:r>
          </a:p>
        </p:txBody>
      </p:sp>
      <p:sp>
        <p:nvSpPr>
          <p:cNvPr id="28" name="TextBox 27"/>
          <p:cNvSpPr txBox="1"/>
          <p:nvPr/>
        </p:nvSpPr>
        <p:spPr>
          <a:xfrm>
            <a:off x="8439911" y="4096512"/>
            <a:ext cx="2971800" cy="621792"/>
          </a:xfrm>
          <a:prstGeom prst="rect">
            <a:avLst/>
          </a:prstGeom>
          <a:noFill/>
        </p:spPr>
        <p:txBody>
          <a:bodyPr wrap="square" lIns="45720" rIns="45720" anchor="t">
            <a:spAutoFit/>
          </a:bodyPr>
          <a:lstStyle/>
          <a:p>
            <a:pPr algn="l">
              <a:spcAft>
                <a:spcPts val="0"/>
              </a:spcAft>
            </a:pPr>
            <a:r>
              <a:rPr sz="1300" b="0" i="0">
                <a:solidFill>
                  <a:srgbClr val="1F2A38"/>
                </a:solidFill>
                <a:latin typeface="Aptos"/>
              </a:rPr>
              <a:t>Employees whose training is still pending (43% of 500).</a:t>
            </a:r>
          </a:p>
        </p:txBody>
      </p:sp>
      <p:sp>
        <p:nvSpPr>
          <p:cNvPr id="29" name="Rectangle 28"/>
          <p:cNvSpPr/>
          <p:nvPr/>
        </p:nvSpPr>
        <p:spPr>
          <a:xfrm>
            <a:off x="8439911" y="4736592"/>
            <a:ext cx="640080" cy="50292"/>
          </a:xfrm>
          <a:prstGeom prst="rect">
            <a:avLst/>
          </a:prstGeom>
          <a:solidFill>
            <a:srgbClr val="0077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66928" y="5394960"/>
            <a:ext cx="11109960" cy="685800"/>
          </a:xfrm>
          <a:prstGeom prst="roundRect">
            <a:avLst/>
          </a:prstGeom>
          <a:solidFill>
            <a:srgbClr val="112F56"/>
          </a:solidFill>
          <a:ln w="10160">
            <a:solidFill>
              <a:srgbClr val="2A507D"/>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a:solidFill>
                  <a:srgbClr val="B0C2D8"/>
                </a:solidFill>
                <a:latin typeface="Aptos"/>
              </a:rPr>
              <a:t>Training priority split:  Medium 278 (55.6%)  •  High 205 (41%)  •  Low 17 (3.4%)</a:t>
            </a:r>
            <a:endParaRPr lang="en-US" dirty="0">
              <a:solidFill>
                <a:srgbClr val="B0C2D8"/>
              </a:solidFill>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71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698480" cy="502920"/>
          </a:xfrm>
          <a:prstGeom prst="rect">
            <a:avLst/>
          </a:prstGeom>
          <a:noFill/>
        </p:spPr>
        <p:txBody>
          <a:bodyPr wrap="square" lIns="45720" rIns="45720" anchor="t">
            <a:spAutoFit/>
          </a:bodyPr>
          <a:lstStyle/>
          <a:p>
            <a:pPr algn="l">
              <a:spcAft>
                <a:spcPts val="0"/>
              </a:spcAft>
            </a:pPr>
            <a:r>
              <a:rPr sz="2600" b="1" i="0">
                <a:solidFill>
                  <a:srgbClr val="FFFFFF"/>
                </a:solidFill>
                <a:latin typeface="Aptos"/>
              </a:rPr>
              <a:t>Completed vs Pending Training by Department</a:t>
            </a:r>
          </a:p>
        </p:txBody>
      </p:sp>
      <p:sp>
        <p:nvSpPr>
          <p:cNvPr id="4" name="Rectangle 3"/>
          <p:cNvSpPr/>
          <p:nvPr/>
        </p:nvSpPr>
        <p:spPr>
          <a:xfrm>
            <a:off x="530352" y="850392"/>
            <a:ext cx="713232" cy="50292"/>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44200" y="6528816"/>
            <a:ext cx="914400" cy="164592"/>
          </a:xfrm>
          <a:prstGeom prst="rect">
            <a:avLst/>
          </a:prstGeom>
          <a:noFill/>
        </p:spPr>
        <p:txBody>
          <a:bodyPr wrap="square" lIns="45720" rIns="45720" anchor="t">
            <a:spAutoFit/>
          </a:bodyPr>
          <a:lstStyle/>
          <a:p>
            <a:pPr algn="r">
              <a:spcAft>
                <a:spcPts val="0"/>
              </a:spcAft>
            </a:pPr>
            <a:r>
              <a:rPr sz="900" b="0" i="0">
                <a:solidFill>
                  <a:srgbClr val="B0C2D8"/>
                </a:solidFill>
                <a:latin typeface="Aptos"/>
              </a:rPr>
              <a:t>04  /  09</a:t>
            </a:r>
          </a:p>
        </p:txBody>
      </p:sp>
      <p:sp>
        <p:nvSpPr>
          <p:cNvPr id="9" name="TextBox 8"/>
          <p:cNvSpPr txBox="1"/>
          <p:nvPr/>
        </p:nvSpPr>
        <p:spPr>
          <a:xfrm>
            <a:off x="804672" y="1298448"/>
            <a:ext cx="6217920" cy="228600"/>
          </a:xfrm>
          <a:prstGeom prst="rect">
            <a:avLst/>
          </a:prstGeom>
          <a:noFill/>
        </p:spPr>
        <p:txBody>
          <a:bodyPr wrap="square" lIns="45720" rIns="45720" anchor="t">
            <a:spAutoFit/>
          </a:bodyPr>
          <a:lstStyle/>
          <a:p>
            <a:pPr algn="l">
              <a:spcAft>
                <a:spcPts val="0"/>
              </a:spcAft>
            </a:pPr>
            <a:r>
              <a:rPr sz="1200" b="1" i="0" dirty="0">
                <a:solidFill>
                  <a:srgbClr val="5F6B79"/>
                </a:solidFill>
                <a:latin typeface="Aptos"/>
              </a:rPr>
              <a:t>Count of Employee ID  |  Stacked by Training Status</a:t>
            </a:r>
          </a:p>
        </p:txBody>
      </p:sp>
      <p:cxnSp>
        <p:nvCxnSpPr>
          <p:cNvPr id="10" name="Connector 9"/>
          <p:cNvCxnSpPr/>
          <p:nvPr/>
        </p:nvCxnSpPr>
        <p:spPr>
          <a:xfrm>
            <a:off x="1051560" y="5394960"/>
            <a:ext cx="6903719" cy="0"/>
          </a:xfrm>
          <a:prstGeom prst="line">
            <a:avLst/>
          </a:prstGeom>
          <a:ln w="7620">
            <a:solidFill>
              <a:srgbClr val="E0E6E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13232" y="5312664"/>
            <a:ext cx="256032" cy="164592"/>
          </a:xfrm>
          <a:prstGeom prst="rect">
            <a:avLst/>
          </a:prstGeom>
          <a:noFill/>
        </p:spPr>
        <p:txBody>
          <a:bodyPr wrap="square" lIns="45720" rIns="45720" anchor="t">
            <a:spAutoFit/>
          </a:bodyPr>
          <a:lstStyle/>
          <a:p>
            <a:pPr algn="r">
              <a:spcAft>
                <a:spcPts val="0"/>
              </a:spcAft>
            </a:pPr>
            <a:r>
              <a:rPr sz="800" b="0" i="0">
                <a:solidFill>
                  <a:srgbClr val="5F6B79"/>
                </a:solidFill>
                <a:latin typeface="Aptos"/>
              </a:rPr>
              <a:t>0</a:t>
            </a:r>
          </a:p>
        </p:txBody>
      </p:sp>
      <p:cxnSp>
        <p:nvCxnSpPr>
          <p:cNvPr id="12" name="Connector 11"/>
          <p:cNvCxnSpPr/>
          <p:nvPr/>
        </p:nvCxnSpPr>
        <p:spPr>
          <a:xfrm>
            <a:off x="1051560" y="4690872"/>
            <a:ext cx="6903719" cy="0"/>
          </a:xfrm>
          <a:prstGeom prst="line">
            <a:avLst/>
          </a:prstGeom>
          <a:ln w="7620">
            <a:solidFill>
              <a:srgbClr val="E0E6E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13232" y="4608576"/>
            <a:ext cx="256032" cy="164592"/>
          </a:xfrm>
          <a:prstGeom prst="rect">
            <a:avLst/>
          </a:prstGeom>
          <a:noFill/>
        </p:spPr>
        <p:txBody>
          <a:bodyPr wrap="square" lIns="45720" rIns="45720" anchor="t">
            <a:spAutoFit/>
          </a:bodyPr>
          <a:lstStyle/>
          <a:p>
            <a:pPr algn="r">
              <a:spcAft>
                <a:spcPts val="0"/>
              </a:spcAft>
            </a:pPr>
            <a:r>
              <a:rPr sz="800" b="0" i="0">
                <a:solidFill>
                  <a:srgbClr val="5F6B79"/>
                </a:solidFill>
                <a:latin typeface="Aptos"/>
              </a:rPr>
              <a:t>20</a:t>
            </a:r>
          </a:p>
        </p:txBody>
      </p:sp>
      <p:cxnSp>
        <p:nvCxnSpPr>
          <p:cNvPr id="14" name="Connector 13"/>
          <p:cNvCxnSpPr/>
          <p:nvPr/>
        </p:nvCxnSpPr>
        <p:spPr>
          <a:xfrm>
            <a:off x="1051560" y="3986784"/>
            <a:ext cx="6903719" cy="0"/>
          </a:xfrm>
          <a:prstGeom prst="line">
            <a:avLst/>
          </a:prstGeom>
          <a:ln w="7620">
            <a:solidFill>
              <a:srgbClr val="E0E6ED"/>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13232" y="3904488"/>
            <a:ext cx="256032" cy="164592"/>
          </a:xfrm>
          <a:prstGeom prst="rect">
            <a:avLst/>
          </a:prstGeom>
          <a:noFill/>
        </p:spPr>
        <p:txBody>
          <a:bodyPr wrap="square" lIns="45720" rIns="45720" anchor="t">
            <a:spAutoFit/>
          </a:bodyPr>
          <a:lstStyle/>
          <a:p>
            <a:pPr algn="r">
              <a:spcAft>
                <a:spcPts val="0"/>
              </a:spcAft>
            </a:pPr>
            <a:r>
              <a:rPr sz="800" b="0" i="0">
                <a:solidFill>
                  <a:srgbClr val="5F6B79"/>
                </a:solidFill>
                <a:latin typeface="Aptos"/>
              </a:rPr>
              <a:t>40</a:t>
            </a:r>
          </a:p>
        </p:txBody>
      </p:sp>
      <p:cxnSp>
        <p:nvCxnSpPr>
          <p:cNvPr id="16" name="Connector 15"/>
          <p:cNvCxnSpPr/>
          <p:nvPr/>
        </p:nvCxnSpPr>
        <p:spPr>
          <a:xfrm>
            <a:off x="1051560" y="3282696"/>
            <a:ext cx="6903719" cy="0"/>
          </a:xfrm>
          <a:prstGeom prst="line">
            <a:avLst/>
          </a:prstGeom>
          <a:ln w="7620">
            <a:solidFill>
              <a:srgbClr val="E0E6E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3232" y="3200400"/>
            <a:ext cx="256032" cy="164592"/>
          </a:xfrm>
          <a:prstGeom prst="rect">
            <a:avLst/>
          </a:prstGeom>
          <a:noFill/>
        </p:spPr>
        <p:txBody>
          <a:bodyPr wrap="square" lIns="45720" rIns="45720" anchor="t">
            <a:spAutoFit/>
          </a:bodyPr>
          <a:lstStyle/>
          <a:p>
            <a:pPr algn="r">
              <a:spcAft>
                <a:spcPts val="0"/>
              </a:spcAft>
            </a:pPr>
            <a:r>
              <a:rPr sz="800" b="0" i="0">
                <a:solidFill>
                  <a:srgbClr val="5F6B79"/>
                </a:solidFill>
                <a:latin typeface="Aptos"/>
              </a:rPr>
              <a:t>60</a:t>
            </a:r>
          </a:p>
        </p:txBody>
      </p:sp>
      <p:cxnSp>
        <p:nvCxnSpPr>
          <p:cNvPr id="18" name="Connector 17"/>
          <p:cNvCxnSpPr/>
          <p:nvPr/>
        </p:nvCxnSpPr>
        <p:spPr>
          <a:xfrm>
            <a:off x="1051560" y="2578608"/>
            <a:ext cx="6903719" cy="0"/>
          </a:xfrm>
          <a:prstGeom prst="line">
            <a:avLst/>
          </a:prstGeom>
          <a:ln w="7620">
            <a:solidFill>
              <a:srgbClr val="E0E6E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13232" y="2496312"/>
            <a:ext cx="256032" cy="164592"/>
          </a:xfrm>
          <a:prstGeom prst="rect">
            <a:avLst/>
          </a:prstGeom>
          <a:noFill/>
        </p:spPr>
        <p:txBody>
          <a:bodyPr wrap="square" lIns="45720" rIns="45720" anchor="t">
            <a:spAutoFit/>
          </a:bodyPr>
          <a:lstStyle/>
          <a:p>
            <a:pPr algn="r">
              <a:spcAft>
                <a:spcPts val="0"/>
              </a:spcAft>
            </a:pPr>
            <a:r>
              <a:rPr sz="800" b="0" i="0">
                <a:solidFill>
                  <a:srgbClr val="5F6B79"/>
                </a:solidFill>
                <a:latin typeface="Aptos"/>
              </a:rPr>
              <a:t>80</a:t>
            </a:r>
          </a:p>
        </p:txBody>
      </p:sp>
      <p:cxnSp>
        <p:nvCxnSpPr>
          <p:cNvPr id="20" name="Connector 19"/>
          <p:cNvCxnSpPr/>
          <p:nvPr/>
        </p:nvCxnSpPr>
        <p:spPr>
          <a:xfrm>
            <a:off x="1051560" y="1874520"/>
            <a:ext cx="6903719" cy="0"/>
          </a:xfrm>
          <a:prstGeom prst="line">
            <a:avLst/>
          </a:prstGeom>
          <a:ln w="7620">
            <a:solidFill>
              <a:srgbClr val="E0E6E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13232" y="1792224"/>
            <a:ext cx="256032" cy="164592"/>
          </a:xfrm>
          <a:prstGeom prst="rect">
            <a:avLst/>
          </a:prstGeom>
          <a:noFill/>
        </p:spPr>
        <p:txBody>
          <a:bodyPr wrap="square" lIns="45720" rIns="45720" anchor="t">
            <a:spAutoFit/>
          </a:bodyPr>
          <a:lstStyle/>
          <a:p>
            <a:pPr algn="r">
              <a:spcAft>
                <a:spcPts val="0"/>
              </a:spcAft>
            </a:pPr>
            <a:r>
              <a:rPr sz="800" b="0" i="0">
                <a:solidFill>
                  <a:srgbClr val="5F6B79"/>
                </a:solidFill>
                <a:latin typeface="Aptos"/>
              </a:rPr>
              <a:t>100</a:t>
            </a:r>
          </a:p>
        </p:txBody>
      </p:sp>
      <p:sp>
        <p:nvSpPr>
          <p:cNvPr id="22" name="Rectangle 21"/>
          <p:cNvSpPr/>
          <p:nvPr/>
        </p:nvSpPr>
        <p:spPr>
          <a:xfrm>
            <a:off x="1286446" y="2895447"/>
            <a:ext cx="393192" cy="2499512"/>
          </a:xfrm>
          <a:prstGeom prst="rect">
            <a:avLst/>
          </a:prstGeom>
          <a:solidFill>
            <a:srgbClr val="11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286446" y="1874520"/>
            <a:ext cx="393192" cy="1020927"/>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286446" y="4062907"/>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71</a:t>
            </a:r>
          </a:p>
        </p:txBody>
      </p:sp>
      <p:sp>
        <p:nvSpPr>
          <p:cNvPr id="25" name="TextBox 24"/>
          <p:cNvSpPr txBox="1"/>
          <p:nvPr/>
        </p:nvSpPr>
        <p:spPr>
          <a:xfrm>
            <a:off x="1286446" y="2302687"/>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29</a:t>
            </a:r>
          </a:p>
        </p:txBody>
      </p:sp>
      <p:sp>
        <p:nvSpPr>
          <p:cNvPr id="26" name="TextBox 25"/>
          <p:cNvSpPr txBox="1"/>
          <p:nvPr/>
        </p:nvSpPr>
        <p:spPr>
          <a:xfrm>
            <a:off x="1121854" y="5486400"/>
            <a:ext cx="1192149"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Retail
Banking</a:t>
            </a:r>
          </a:p>
        </p:txBody>
      </p:sp>
      <p:sp>
        <p:nvSpPr>
          <p:cNvPr id="27" name="Rectangle 26"/>
          <p:cNvSpPr/>
          <p:nvPr/>
        </p:nvSpPr>
        <p:spPr>
          <a:xfrm>
            <a:off x="2149411" y="4233214"/>
            <a:ext cx="393192" cy="1161745"/>
          </a:xfrm>
          <a:prstGeom prst="rect">
            <a:avLst/>
          </a:prstGeom>
          <a:solidFill>
            <a:srgbClr val="11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149411" y="2332177"/>
            <a:ext cx="393192" cy="1901037"/>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149411" y="4731791"/>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33</a:t>
            </a:r>
          </a:p>
        </p:txBody>
      </p:sp>
      <p:sp>
        <p:nvSpPr>
          <p:cNvPr id="30" name="TextBox 29"/>
          <p:cNvSpPr txBox="1"/>
          <p:nvPr/>
        </p:nvSpPr>
        <p:spPr>
          <a:xfrm>
            <a:off x="2149411" y="3200400"/>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54</a:t>
            </a:r>
          </a:p>
        </p:txBody>
      </p:sp>
      <p:sp>
        <p:nvSpPr>
          <p:cNvPr id="31" name="TextBox 30"/>
          <p:cNvSpPr txBox="1"/>
          <p:nvPr/>
        </p:nvSpPr>
        <p:spPr>
          <a:xfrm>
            <a:off x="1984819" y="5486400"/>
            <a:ext cx="1192149"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Risk
Management</a:t>
            </a:r>
          </a:p>
        </p:txBody>
      </p:sp>
      <p:sp>
        <p:nvSpPr>
          <p:cNvPr id="32" name="Rectangle 31"/>
          <p:cNvSpPr/>
          <p:nvPr/>
        </p:nvSpPr>
        <p:spPr>
          <a:xfrm>
            <a:off x="3012376" y="3317900"/>
            <a:ext cx="393192" cy="2077059"/>
          </a:xfrm>
          <a:prstGeom prst="rect">
            <a:avLst/>
          </a:prstGeom>
          <a:solidFill>
            <a:srgbClr val="11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012376" y="2437790"/>
            <a:ext cx="393192" cy="880110"/>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012376" y="4274134"/>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59</a:t>
            </a:r>
          </a:p>
        </p:txBody>
      </p:sp>
      <p:sp>
        <p:nvSpPr>
          <p:cNvPr id="35" name="TextBox 34"/>
          <p:cNvSpPr txBox="1"/>
          <p:nvPr/>
        </p:nvSpPr>
        <p:spPr>
          <a:xfrm>
            <a:off x="3012376" y="2795549"/>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25</a:t>
            </a:r>
          </a:p>
        </p:txBody>
      </p:sp>
      <p:sp>
        <p:nvSpPr>
          <p:cNvPr id="36" name="TextBox 35"/>
          <p:cNvSpPr txBox="1"/>
          <p:nvPr/>
        </p:nvSpPr>
        <p:spPr>
          <a:xfrm>
            <a:off x="2847784" y="5486400"/>
            <a:ext cx="1192149"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Operations</a:t>
            </a:r>
          </a:p>
        </p:txBody>
      </p:sp>
      <p:sp>
        <p:nvSpPr>
          <p:cNvPr id="37" name="Rectangle 36"/>
          <p:cNvSpPr/>
          <p:nvPr/>
        </p:nvSpPr>
        <p:spPr>
          <a:xfrm>
            <a:off x="3875341" y="4550054"/>
            <a:ext cx="393192" cy="844905"/>
          </a:xfrm>
          <a:prstGeom prst="rect">
            <a:avLst/>
          </a:prstGeom>
          <a:solidFill>
            <a:srgbClr val="11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3875341" y="3036265"/>
            <a:ext cx="393192" cy="1513789"/>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875341" y="4890211"/>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24</a:t>
            </a:r>
          </a:p>
        </p:txBody>
      </p:sp>
      <p:sp>
        <p:nvSpPr>
          <p:cNvPr id="40" name="TextBox 39"/>
          <p:cNvSpPr txBox="1"/>
          <p:nvPr/>
        </p:nvSpPr>
        <p:spPr>
          <a:xfrm>
            <a:off x="3875341" y="3710863"/>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43</a:t>
            </a:r>
          </a:p>
        </p:txBody>
      </p:sp>
      <p:sp>
        <p:nvSpPr>
          <p:cNvPr id="41" name="TextBox 40"/>
          <p:cNvSpPr txBox="1"/>
          <p:nvPr/>
        </p:nvSpPr>
        <p:spPr>
          <a:xfrm>
            <a:off x="3710749" y="5486400"/>
            <a:ext cx="1192149"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IT &amp; Digital
Banking</a:t>
            </a:r>
          </a:p>
        </p:txBody>
      </p:sp>
      <p:sp>
        <p:nvSpPr>
          <p:cNvPr id="42" name="Rectangle 41"/>
          <p:cNvSpPr/>
          <p:nvPr/>
        </p:nvSpPr>
        <p:spPr>
          <a:xfrm>
            <a:off x="4738306" y="4338828"/>
            <a:ext cx="393192" cy="1056132"/>
          </a:xfrm>
          <a:prstGeom prst="rect">
            <a:avLst/>
          </a:prstGeom>
          <a:solidFill>
            <a:srgbClr val="11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738306" y="3106674"/>
            <a:ext cx="393192" cy="1232154"/>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738306" y="4784598"/>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30</a:t>
            </a:r>
          </a:p>
        </p:txBody>
      </p:sp>
      <p:sp>
        <p:nvSpPr>
          <p:cNvPr id="45" name="TextBox 44"/>
          <p:cNvSpPr txBox="1"/>
          <p:nvPr/>
        </p:nvSpPr>
        <p:spPr>
          <a:xfrm>
            <a:off x="4738306" y="3640455"/>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35</a:t>
            </a:r>
          </a:p>
        </p:txBody>
      </p:sp>
      <p:sp>
        <p:nvSpPr>
          <p:cNvPr id="46" name="TextBox 45"/>
          <p:cNvSpPr txBox="1"/>
          <p:nvPr/>
        </p:nvSpPr>
        <p:spPr>
          <a:xfrm>
            <a:off x="4573714" y="5486400"/>
            <a:ext cx="1192149"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Corporate
Banking</a:t>
            </a:r>
          </a:p>
        </p:txBody>
      </p:sp>
      <p:sp>
        <p:nvSpPr>
          <p:cNvPr id="47" name="Rectangle 46"/>
          <p:cNvSpPr/>
          <p:nvPr/>
        </p:nvSpPr>
        <p:spPr>
          <a:xfrm>
            <a:off x="5601271" y="4268419"/>
            <a:ext cx="393192" cy="1126540"/>
          </a:xfrm>
          <a:prstGeom prst="rect">
            <a:avLst/>
          </a:prstGeom>
          <a:solidFill>
            <a:srgbClr val="11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601271" y="3951579"/>
            <a:ext cx="393192" cy="316839"/>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601271" y="4749393"/>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32</a:t>
            </a:r>
          </a:p>
        </p:txBody>
      </p:sp>
      <p:sp>
        <p:nvSpPr>
          <p:cNvPr id="50" name="TextBox 49"/>
          <p:cNvSpPr txBox="1"/>
          <p:nvPr/>
        </p:nvSpPr>
        <p:spPr>
          <a:xfrm>
            <a:off x="5601271" y="4027703"/>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9</a:t>
            </a:r>
          </a:p>
        </p:txBody>
      </p:sp>
      <p:sp>
        <p:nvSpPr>
          <p:cNvPr id="51" name="TextBox 50"/>
          <p:cNvSpPr txBox="1"/>
          <p:nvPr/>
        </p:nvSpPr>
        <p:spPr>
          <a:xfrm>
            <a:off x="5436679" y="5486400"/>
            <a:ext cx="1192149"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Investment
Banking</a:t>
            </a:r>
          </a:p>
        </p:txBody>
      </p:sp>
      <p:sp>
        <p:nvSpPr>
          <p:cNvPr id="52" name="Rectangle 51"/>
          <p:cNvSpPr/>
          <p:nvPr/>
        </p:nvSpPr>
        <p:spPr>
          <a:xfrm>
            <a:off x="6464236" y="4620463"/>
            <a:ext cx="393192" cy="774496"/>
          </a:xfrm>
          <a:prstGeom prst="rect">
            <a:avLst/>
          </a:prstGeom>
          <a:solidFill>
            <a:srgbClr val="11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464236" y="4268419"/>
            <a:ext cx="393192" cy="352044"/>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64236" y="4925415"/>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22</a:t>
            </a:r>
          </a:p>
        </p:txBody>
      </p:sp>
      <p:sp>
        <p:nvSpPr>
          <p:cNvPr id="55" name="TextBox 54"/>
          <p:cNvSpPr txBox="1"/>
          <p:nvPr/>
        </p:nvSpPr>
        <p:spPr>
          <a:xfrm>
            <a:off x="6464236" y="4362145"/>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10</a:t>
            </a:r>
          </a:p>
        </p:txBody>
      </p:sp>
      <p:sp>
        <p:nvSpPr>
          <p:cNvPr id="56" name="TextBox 55"/>
          <p:cNvSpPr txBox="1"/>
          <p:nvPr/>
        </p:nvSpPr>
        <p:spPr>
          <a:xfrm>
            <a:off x="6299644" y="5486400"/>
            <a:ext cx="1192149"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Marketing</a:t>
            </a:r>
          </a:p>
        </p:txBody>
      </p:sp>
      <p:sp>
        <p:nvSpPr>
          <p:cNvPr id="57" name="Rectangle 56"/>
          <p:cNvSpPr/>
          <p:nvPr/>
        </p:nvSpPr>
        <p:spPr>
          <a:xfrm>
            <a:off x="7327201" y="4902098"/>
            <a:ext cx="393192" cy="492861"/>
          </a:xfrm>
          <a:prstGeom prst="rect">
            <a:avLst/>
          </a:prstGeom>
          <a:solidFill>
            <a:srgbClr val="11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327201" y="4550054"/>
            <a:ext cx="393192" cy="352044"/>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327201" y="5066233"/>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14</a:t>
            </a:r>
          </a:p>
        </p:txBody>
      </p:sp>
      <p:sp>
        <p:nvSpPr>
          <p:cNvPr id="60" name="TextBox 59"/>
          <p:cNvSpPr txBox="1"/>
          <p:nvPr/>
        </p:nvSpPr>
        <p:spPr>
          <a:xfrm>
            <a:off x="7327201" y="4643780"/>
            <a:ext cx="393192" cy="164592"/>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10</a:t>
            </a:r>
          </a:p>
        </p:txBody>
      </p:sp>
      <p:sp>
        <p:nvSpPr>
          <p:cNvPr id="61" name="TextBox 60"/>
          <p:cNvSpPr txBox="1"/>
          <p:nvPr/>
        </p:nvSpPr>
        <p:spPr>
          <a:xfrm>
            <a:off x="7162609" y="5486400"/>
            <a:ext cx="1192149"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Human
Resources</a:t>
            </a:r>
          </a:p>
        </p:txBody>
      </p:sp>
      <p:sp>
        <p:nvSpPr>
          <p:cNvPr id="62" name="Rectangle 61"/>
          <p:cNvSpPr/>
          <p:nvPr/>
        </p:nvSpPr>
        <p:spPr>
          <a:xfrm>
            <a:off x="2926080" y="5989320"/>
            <a:ext cx="137160" cy="137160"/>
          </a:xfrm>
          <a:prstGeom prst="rect">
            <a:avLst/>
          </a:prstGeom>
          <a:solidFill>
            <a:srgbClr val="11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127248" y="5961888"/>
            <a:ext cx="1005840" cy="182880"/>
          </a:xfrm>
          <a:prstGeom prst="rect">
            <a:avLst/>
          </a:prstGeom>
          <a:noFill/>
        </p:spPr>
        <p:txBody>
          <a:bodyPr wrap="square" lIns="45720" rIns="45720" anchor="t">
            <a:spAutoFit/>
          </a:bodyPr>
          <a:lstStyle/>
          <a:p>
            <a:pPr algn="l">
              <a:spcAft>
                <a:spcPts val="0"/>
              </a:spcAft>
            </a:pPr>
            <a:r>
              <a:rPr sz="900" b="1" i="0">
                <a:solidFill>
                  <a:srgbClr val="5F6B79"/>
                </a:solidFill>
                <a:latin typeface="Aptos"/>
              </a:rPr>
              <a:t>Completed</a:t>
            </a:r>
          </a:p>
        </p:txBody>
      </p:sp>
      <p:sp>
        <p:nvSpPr>
          <p:cNvPr id="64" name="Rectangle 63"/>
          <p:cNvSpPr/>
          <p:nvPr/>
        </p:nvSpPr>
        <p:spPr>
          <a:xfrm>
            <a:off x="4343400" y="5989320"/>
            <a:ext cx="137160" cy="137160"/>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44568" y="5961888"/>
            <a:ext cx="1005840" cy="182880"/>
          </a:xfrm>
          <a:prstGeom prst="rect">
            <a:avLst/>
          </a:prstGeom>
          <a:noFill/>
        </p:spPr>
        <p:txBody>
          <a:bodyPr wrap="square" lIns="45720" rIns="45720" anchor="t">
            <a:spAutoFit/>
          </a:bodyPr>
          <a:lstStyle/>
          <a:p>
            <a:pPr algn="l">
              <a:spcAft>
                <a:spcPts val="0"/>
              </a:spcAft>
            </a:pPr>
            <a:r>
              <a:rPr sz="900" b="1" i="0">
                <a:solidFill>
                  <a:srgbClr val="5F6B79"/>
                </a:solidFill>
                <a:latin typeface="Aptos"/>
              </a:rPr>
              <a:t>Pending</a:t>
            </a:r>
          </a:p>
        </p:txBody>
      </p:sp>
      <p:sp>
        <p:nvSpPr>
          <p:cNvPr id="66" name="Rounded Rectangle 65"/>
          <p:cNvSpPr/>
          <p:nvPr/>
        </p:nvSpPr>
        <p:spPr>
          <a:xfrm>
            <a:off x="8613648" y="1097280"/>
            <a:ext cx="3035808" cy="5230368"/>
          </a:xfrm>
          <a:prstGeom prst="roundRect">
            <a:avLst/>
          </a:prstGeom>
          <a:solidFill>
            <a:srgbClr val="F4F8FD"/>
          </a:solidFill>
          <a:ln w="10160">
            <a:solidFill>
              <a:srgbClr val="C7D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8887968" y="1417320"/>
            <a:ext cx="1234440" cy="283464"/>
          </a:xfrm>
          <a:prstGeom prst="roundRect">
            <a:avLst/>
          </a:prstGeom>
          <a:solidFill>
            <a:srgbClr val="E1EFFF"/>
          </a:solidFill>
          <a:ln w="10160">
            <a:solidFill>
              <a:srgbClr val="E1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942832" y="1458468"/>
            <a:ext cx="1124712" cy="182880"/>
          </a:xfrm>
          <a:prstGeom prst="rect">
            <a:avLst/>
          </a:prstGeom>
          <a:noFill/>
        </p:spPr>
        <p:txBody>
          <a:bodyPr wrap="square" lIns="0" tIns="0" rIns="0" bIns="0" anchor="ctr">
            <a:spAutoFit/>
          </a:bodyPr>
          <a:lstStyle/>
          <a:p>
            <a:pPr algn="ctr">
              <a:spcAft>
                <a:spcPts val="0"/>
              </a:spcAft>
            </a:pPr>
            <a:r>
              <a:rPr sz="900" b="1" i="0">
                <a:solidFill>
                  <a:srgbClr val="1146BE"/>
                </a:solidFill>
                <a:latin typeface="Aptos"/>
              </a:rPr>
              <a:t>KEY FINDING</a:t>
            </a:r>
          </a:p>
        </p:txBody>
      </p:sp>
      <p:sp>
        <p:nvSpPr>
          <p:cNvPr id="69" name="TextBox 68"/>
          <p:cNvSpPr txBox="1"/>
          <p:nvPr/>
        </p:nvSpPr>
        <p:spPr>
          <a:xfrm>
            <a:off x="8887968" y="1938528"/>
            <a:ext cx="2377440" cy="320040"/>
          </a:xfrm>
          <a:prstGeom prst="rect">
            <a:avLst/>
          </a:prstGeom>
          <a:noFill/>
        </p:spPr>
        <p:txBody>
          <a:bodyPr wrap="square" lIns="45720" rIns="45720" anchor="t">
            <a:spAutoFit/>
          </a:bodyPr>
          <a:lstStyle/>
          <a:p>
            <a:pPr algn="l">
              <a:spcAft>
                <a:spcPts val="0"/>
              </a:spcAft>
            </a:pPr>
            <a:r>
              <a:rPr sz="1700" b="1" i="0">
                <a:solidFill>
                  <a:srgbClr val="071C39"/>
                </a:solidFill>
                <a:latin typeface="Aptos"/>
              </a:rPr>
              <a:t>Risk Management</a:t>
            </a:r>
          </a:p>
        </p:txBody>
      </p:sp>
      <p:sp>
        <p:nvSpPr>
          <p:cNvPr id="70" name="TextBox 69"/>
          <p:cNvSpPr txBox="1"/>
          <p:nvPr/>
        </p:nvSpPr>
        <p:spPr>
          <a:xfrm>
            <a:off x="8887968" y="2487168"/>
            <a:ext cx="2194560" cy="320040"/>
          </a:xfrm>
          <a:prstGeom prst="rect">
            <a:avLst/>
          </a:prstGeom>
          <a:noFill/>
        </p:spPr>
        <p:txBody>
          <a:bodyPr wrap="square" lIns="45720" rIns="45720" anchor="t">
            <a:spAutoFit/>
          </a:bodyPr>
          <a:lstStyle/>
          <a:p>
            <a:pPr algn="l">
              <a:spcAft>
                <a:spcPts val="0"/>
              </a:spcAft>
            </a:pPr>
            <a:r>
              <a:rPr sz="1600" b="1" i="0">
                <a:solidFill>
                  <a:srgbClr val="1146BE"/>
                </a:solidFill>
                <a:latin typeface="Aptos"/>
              </a:rPr>
              <a:t>33 completed</a:t>
            </a:r>
          </a:p>
        </p:txBody>
      </p:sp>
      <p:sp>
        <p:nvSpPr>
          <p:cNvPr id="71" name="TextBox 70"/>
          <p:cNvSpPr txBox="1"/>
          <p:nvPr/>
        </p:nvSpPr>
        <p:spPr>
          <a:xfrm>
            <a:off x="8887968" y="2852928"/>
            <a:ext cx="2194560" cy="320040"/>
          </a:xfrm>
          <a:prstGeom prst="rect">
            <a:avLst/>
          </a:prstGeom>
          <a:noFill/>
        </p:spPr>
        <p:txBody>
          <a:bodyPr wrap="square" lIns="45720" rIns="45720" anchor="t">
            <a:spAutoFit/>
          </a:bodyPr>
          <a:lstStyle/>
          <a:p>
            <a:pPr algn="l">
              <a:spcAft>
                <a:spcPts val="0"/>
              </a:spcAft>
            </a:pPr>
            <a:r>
              <a:rPr sz="1600" b="1" i="0">
                <a:solidFill>
                  <a:srgbClr val="1C8FF5"/>
                </a:solidFill>
                <a:latin typeface="Aptos"/>
              </a:rPr>
              <a:t>54 pending</a:t>
            </a:r>
          </a:p>
        </p:txBody>
      </p:sp>
      <p:sp>
        <p:nvSpPr>
          <p:cNvPr id="72" name="TextBox 71"/>
          <p:cNvSpPr txBox="1"/>
          <p:nvPr/>
        </p:nvSpPr>
        <p:spPr>
          <a:xfrm>
            <a:off x="8887968" y="3273552"/>
            <a:ext cx="2377440" cy="320040"/>
          </a:xfrm>
          <a:prstGeom prst="rect">
            <a:avLst/>
          </a:prstGeom>
          <a:noFill/>
        </p:spPr>
        <p:txBody>
          <a:bodyPr wrap="square" lIns="45720" rIns="45720" anchor="t">
            <a:spAutoFit/>
          </a:bodyPr>
          <a:lstStyle/>
          <a:p>
            <a:pPr algn="l">
              <a:spcAft>
                <a:spcPts val="0"/>
              </a:spcAft>
            </a:pPr>
            <a:r>
              <a:rPr sz="1200" b="0" i="0">
                <a:solidFill>
                  <a:srgbClr val="5F6B79"/>
                </a:solidFill>
                <a:latin typeface="Aptos"/>
              </a:rPr>
              <a:t>87 employees in total</a:t>
            </a:r>
          </a:p>
        </p:txBody>
      </p:sp>
      <p:sp>
        <p:nvSpPr>
          <p:cNvPr id="73" name="Rounded Rectangle 72"/>
          <p:cNvSpPr/>
          <p:nvPr/>
        </p:nvSpPr>
        <p:spPr>
          <a:xfrm>
            <a:off x="8887968" y="3913632"/>
            <a:ext cx="2423160" cy="1371600"/>
          </a:xfrm>
          <a:prstGeom prst="roundRect">
            <a:avLst/>
          </a:prstGeom>
          <a:solidFill>
            <a:srgbClr val="FFFFFF"/>
          </a:solidFill>
          <a:ln w="10160">
            <a:solidFill>
              <a:srgbClr val="CF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9052560" y="4096512"/>
            <a:ext cx="2011680" cy="228600"/>
          </a:xfrm>
          <a:prstGeom prst="rect">
            <a:avLst/>
          </a:prstGeom>
          <a:noFill/>
        </p:spPr>
        <p:txBody>
          <a:bodyPr wrap="square" lIns="45720" rIns="45720" anchor="t">
            <a:spAutoFit/>
          </a:bodyPr>
          <a:lstStyle/>
          <a:p>
            <a:pPr algn="l">
              <a:spcAft>
                <a:spcPts val="0"/>
              </a:spcAft>
            </a:pPr>
            <a:r>
              <a:rPr sz="1100" b="1" i="0">
                <a:solidFill>
                  <a:srgbClr val="1146BE"/>
                </a:solidFill>
                <a:latin typeface="Aptos"/>
              </a:rPr>
              <a:t>HR interpretation</a:t>
            </a:r>
          </a:p>
        </p:txBody>
      </p:sp>
      <p:sp>
        <p:nvSpPr>
          <p:cNvPr id="75" name="TextBox 74"/>
          <p:cNvSpPr txBox="1"/>
          <p:nvPr/>
        </p:nvSpPr>
        <p:spPr>
          <a:xfrm>
            <a:off x="9052560" y="4407408"/>
            <a:ext cx="2011680" cy="621792"/>
          </a:xfrm>
          <a:prstGeom prst="rect">
            <a:avLst/>
          </a:prstGeom>
          <a:noFill/>
        </p:spPr>
        <p:txBody>
          <a:bodyPr wrap="square" lIns="45720" rIns="45720" anchor="t">
            <a:spAutoFit/>
          </a:bodyPr>
          <a:lstStyle/>
          <a:p>
            <a:pPr algn="l">
              <a:spcAft>
                <a:spcPts val="0"/>
              </a:spcAft>
            </a:pPr>
            <a:r>
              <a:rPr sz="1200" b="0" i="0">
                <a:solidFill>
                  <a:srgbClr val="1F2A38"/>
                </a:solidFill>
                <a:latin typeface="Aptos"/>
              </a:rPr>
              <a:t>Largest backlog. IT &amp; Digital has the highest pending share (64.2%).</a:t>
            </a:r>
          </a:p>
        </p:txBody>
      </p:sp>
      <p:sp>
        <p:nvSpPr>
          <p:cNvPr id="76" name="TextBox 75"/>
          <p:cNvSpPr txBox="1"/>
          <p:nvPr/>
        </p:nvSpPr>
        <p:spPr>
          <a:xfrm>
            <a:off x="8887968" y="5687568"/>
            <a:ext cx="2331720" cy="365760"/>
          </a:xfrm>
          <a:prstGeom prst="rect">
            <a:avLst/>
          </a:prstGeom>
          <a:noFill/>
        </p:spPr>
        <p:txBody>
          <a:bodyPr wrap="square" lIns="45720" rIns="45720" anchor="t">
            <a:spAutoFit/>
          </a:bodyPr>
          <a:lstStyle/>
          <a:p>
            <a:pPr algn="l">
              <a:spcAft>
                <a:spcPts val="0"/>
              </a:spcAft>
            </a:pPr>
            <a:r>
              <a:rPr sz="900" b="0" i="0">
                <a:solidFill>
                  <a:srgbClr val="5F6B79"/>
                </a:solidFill>
                <a:latin typeface="Aptos"/>
              </a:rPr>
              <a:t>Axis: Department  •  Measure: Employee ID count</a:t>
            </a:r>
          </a:p>
        </p:txBody>
      </p:sp>
      <p:sp>
        <p:nvSpPr>
          <p:cNvPr id="77" name="Rectangle: Rounded Corners 76">
            <a:extLst>
              <a:ext uri="{FF2B5EF4-FFF2-40B4-BE49-F238E27FC236}">
                <a16:creationId xmlns:a16="http://schemas.microsoft.com/office/drawing/2014/main" id="{C43650B0-E65C-86ED-7C3A-57A1195D6F42}"/>
              </a:ext>
            </a:extLst>
          </p:cNvPr>
          <p:cNvSpPr/>
          <p:nvPr/>
        </p:nvSpPr>
        <p:spPr>
          <a:xfrm>
            <a:off x="878777" y="1066647"/>
            <a:ext cx="7389874" cy="523036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79" name="Picture 78">
            <a:extLst>
              <a:ext uri="{FF2B5EF4-FFF2-40B4-BE49-F238E27FC236}">
                <a16:creationId xmlns:a16="http://schemas.microsoft.com/office/drawing/2014/main" id="{F2B13D7D-3FD9-E074-E09C-9C063B6F3725}"/>
              </a:ext>
            </a:extLst>
          </p:cNvPr>
          <p:cNvPicPr>
            <a:picLocks noChangeAspect="1"/>
          </p:cNvPicPr>
          <p:nvPr/>
        </p:nvPicPr>
        <p:blipFill>
          <a:blip r:embed="rId3"/>
          <a:stretch>
            <a:fillRect/>
          </a:stretch>
        </p:blipFill>
        <p:spPr>
          <a:xfrm>
            <a:off x="1241300" y="1215367"/>
            <a:ext cx="6688835" cy="49111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698480" cy="502920"/>
          </a:xfrm>
          <a:prstGeom prst="rect">
            <a:avLst/>
          </a:prstGeom>
          <a:noFill/>
        </p:spPr>
        <p:txBody>
          <a:bodyPr wrap="square" lIns="45720" rIns="45720" anchor="t">
            <a:spAutoFit/>
          </a:bodyPr>
          <a:lstStyle/>
          <a:p>
            <a:pPr algn="l">
              <a:spcAft>
                <a:spcPts val="0"/>
              </a:spcAft>
            </a:pPr>
            <a:r>
              <a:rPr sz="2600" b="1" i="0">
                <a:solidFill>
                  <a:srgbClr val="FFFFFF"/>
                </a:solidFill>
                <a:latin typeface="Aptos"/>
              </a:rPr>
              <a:t>Average Training Hours Across Departments</a:t>
            </a:r>
          </a:p>
        </p:txBody>
      </p:sp>
      <p:sp>
        <p:nvSpPr>
          <p:cNvPr id="4" name="Rectangle 3"/>
          <p:cNvSpPr/>
          <p:nvPr/>
        </p:nvSpPr>
        <p:spPr>
          <a:xfrm>
            <a:off x="530352" y="850392"/>
            <a:ext cx="713232" cy="50292"/>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44200" y="6528816"/>
            <a:ext cx="914400" cy="164592"/>
          </a:xfrm>
          <a:prstGeom prst="rect">
            <a:avLst/>
          </a:prstGeom>
          <a:noFill/>
        </p:spPr>
        <p:txBody>
          <a:bodyPr wrap="square" lIns="45720" rIns="45720" anchor="t">
            <a:spAutoFit/>
          </a:bodyPr>
          <a:lstStyle/>
          <a:p>
            <a:pPr algn="r">
              <a:spcAft>
                <a:spcPts val="0"/>
              </a:spcAft>
            </a:pPr>
            <a:r>
              <a:rPr sz="900" b="0" i="0">
                <a:solidFill>
                  <a:srgbClr val="B0C2D8"/>
                </a:solidFill>
                <a:latin typeface="Aptos"/>
              </a:rPr>
              <a:t>05  /  09</a:t>
            </a:r>
          </a:p>
        </p:txBody>
      </p:sp>
      <p:sp>
        <p:nvSpPr>
          <p:cNvPr id="9" name="TextBox 8"/>
          <p:cNvSpPr txBox="1"/>
          <p:nvPr/>
        </p:nvSpPr>
        <p:spPr>
          <a:xfrm>
            <a:off x="804672" y="1298448"/>
            <a:ext cx="6217920" cy="228600"/>
          </a:xfrm>
          <a:prstGeom prst="rect">
            <a:avLst/>
          </a:prstGeom>
          <a:noFill/>
        </p:spPr>
        <p:txBody>
          <a:bodyPr wrap="square" lIns="45720" rIns="45720" anchor="t">
            <a:spAutoFit/>
          </a:bodyPr>
          <a:lstStyle/>
          <a:p>
            <a:pPr algn="l">
              <a:spcAft>
                <a:spcPts val="0"/>
              </a:spcAft>
            </a:pPr>
            <a:r>
              <a:rPr sz="1200" b="1" i="0">
                <a:solidFill>
                  <a:srgbClr val="5F6B79"/>
                </a:solidFill>
                <a:latin typeface="Aptos"/>
              </a:rPr>
              <a:t>Average of Training Hours by Department</a:t>
            </a:r>
          </a:p>
        </p:txBody>
      </p:sp>
      <p:cxnSp>
        <p:nvCxnSpPr>
          <p:cNvPr id="10" name="Connector 9"/>
          <p:cNvCxnSpPr/>
          <p:nvPr/>
        </p:nvCxnSpPr>
        <p:spPr>
          <a:xfrm>
            <a:off x="1024128" y="5440680"/>
            <a:ext cx="6903720" cy="0"/>
          </a:xfrm>
          <a:prstGeom prst="line">
            <a:avLst/>
          </a:prstGeom>
          <a:ln w="7620">
            <a:solidFill>
              <a:srgbClr val="E0E6E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22376" y="5358384"/>
            <a:ext cx="228600" cy="164592"/>
          </a:xfrm>
          <a:prstGeom prst="rect">
            <a:avLst/>
          </a:prstGeom>
          <a:noFill/>
        </p:spPr>
        <p:txBody>
          <a:bodyPr wrap="square" lIns="45720" rIns="45720" anchor="t">
            <a:spAutoFit/>
          </a:bodyPr>
          <a:lstStyle/>
          <a:p>
            <a:pPr algn="r">
              <a:spcAft>
                <a:spcPts val="0"/>
              </a:spcAft>
            </a:pPr>
            <a:r>
              <a:rPr sz="800" b="0" i="0">
                <a:solidFill>
                  <a:srgbClr val="5F6B79"/>
                </a:solidFill>
                <a:latin typeface="Aptos"/>
              </a:rPr>
              <a:t>0</a:t>
            </a:r>
          </a:p>
        </p:txBody>
      </p:sp>
      <p:cxnSp>
        <p:nvCxnSpPr>
          <p:cNvPr id="12" name="Connector 11"/>
          <p:cNvCxnSpPr/>
          <p:nvPr/>
        </p:nvCxnSpPr>
        <p:spPr>
          <a:xfrm>
            <a:off x="1024128" y="4378362"/>
            <a:ext cx="6903720" cy="0"/>
          </a:xfrm>
          <a:prstGeom prst="line">
            <a:avLst/>
          </a:prstGeom>
          <a:ln w="7620">
            <a:solidFill>
              <a:srgbClr val="E0E6E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22376" y="4296066"/>
            <a:ext cx="228600" cy="164592"/>
          </a:xfrm>
          <a:prstGeom prst="rect">
            <a:avLst/>
          </a:prstGeom>
          <a:noFill/>
        </p:spPr>
        <p:txBody>
          <a:bodyPr wrap="square" lIns="45720" rIns="45720" anchor="t">
            <a:spAutoFit/>
          </a:bodyPr>
          <a:lstStyle/>
          <a:p>
            <a:pPr algn="r">
              <a:spcAft>
                <a:spcPts val="0"/>
              </a:spcAft>
            </a:pPr>
            <a:r>
              <a:rPr sz="800" b="0" i="0">
                <a:solidFill>
                  <a:srgbClr val="5F6B79"/>
                </a:solidFill>
                <a:latin typeface="Aptos"/>
              </a:rPr>
              <a:t>5</a:t>
            </a:r>
          </a:p>
        </p:txBody>
      </p:sp>
      <p:cxnSp>
        <p:nvCxnSpPr>
          <p:cNvPr id="14" name="Connector 13"/>
          <p:cNvCxnSpPr/>
          <p:nvPr/>
        </p:nvCxnSpPr>
        <p:spPr>
          <a:xfrm>
            <a:off x="1024128" y="3316044"/>
            <a:ext cx="6903720" cy="0"/>
          </a:xfrm>
          <a:prstGeom prst="line">
            <a:avLst/>
          </a:prstGeom>
          <a:ln w="7620">
            <a:solidFill>
              <a:srgbClr val="E0E6ED"/>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22376" y="3233748"/>
            <a:ext cx="228600" cy="164592"/>
          </a:xfrm>
          <a:prstGeom prst="rect">
            <a:avLst/>
          </a:prstGeom>
          <a:noFill/>
        </p:spPr>
        <p:txBody>
          <a:bodyPr wrap="square" lIns="45720" rIns="45720" anchor="t">
            <a:spAutoFit/>
          </a:bodyPr>
          <a:lstStyle/>
          <a:p>
            <a:pPr algn="r">
              <a:spcAft>
                <a:spcPts val="0"/>
              </a:spcAft>
            </a:pPr>
            <a:r>
              <a:rPr sz="800" b="0" i="0">
                <a:solidFill>
                  <a:srgbClr val="5F6B79"/>
                </a:solidFill>
                <a:latin typeface="Aptos"/>
              </a:rPr>
              <a:t>10</a:t>
            </a:r>
          </a:p>
        </p:txBody>
      </p:sp>
      <p:cxnSp>
        <p:nvCxnSpPr>
          <p:cNvPr id="16" name="Connector 15"/>
          <p:cNvCxnSpPr/>
          <p:nvPr/>
        </p:nvCxnSpPr>
        <p:spPr>
          <a:xfrm>
            <a:off x="1024128" y="2253727"/>
            <a:ext cx="6903720" cy="0"/>
          </a:xfrm>
          <a:prstGeom prst="line">
            <a:avLst/>
          </a:prstGeom>
          <a:ln w="7620">
            <a:solidFill>
              <a:srgbClr val="E0E6E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22376" y="2171431"/>
            <a:ext cx="228600" cy="164592"/>
          </a:xfrm>
          <a:prstGeom prst="rect">
            <a:avLst/>
          </a:prstGeom>
          <a:noFill/>
        </p:spPr>
        <p:txBody>
          <a:bodyPr wrap="square" lIns="45720" rIns="45720" anchor="t">
            <a:spAutoFit/>
          </a:bodyPr>
          <a:lstStyle/>
          <a:p>
            <a:pPr algn="r">
              <a:spcAft>
                <a:spcPts val="0"/>
              </a:spcAft>
            </a:pPr>
            <a:r>
              <a:rPr sz="800" b="0" i="0">
                <a:solidFill>
                  <a:srgbClr val="5F6B79"/>
                </a:solidFill>
                <a:latin typeface="Aptos"/>
              </a:rPr>
              <a:t>15</a:t>
            </a:r>
          </a:p>
        </p:txBody>
      </p:sp>
      <p:sp>
        <p:nvSpPr>
          <p:cNvPr id="18" name="Rectangle 17"/>
          <p:cNvSpPr/>
          <p:nvPr/>
        </p:nvSpPr>
        <p:spPr>
          <a:xfrm>
            <a:off x="1259014" y="2062509"/>
            <a:ext cx="393192" cy="3378170"/>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67574" y="1806477"/>
            <a:ext cx="576072" cy="182880"/>
          </a:xfrm>
          <a:prstGeom prst="rect">
            <a:avLst/>
          </a:prstGeom>
          <a:noFill/>
        </p:spPr>
        <p:txBody>
          <a:bodyPr wrap="square" lIns="0" tIns="0" rIns="0" bIns="0" anchor="t">
            <a:spAutoFit/>
          </a:bodyPr>
          <a:lstStyle/>
          <a:p>
            <a:pPr algn="ctr">
              <a:spcAft>
                <a:spcPts val="0"/>
              </a:spcAft>
            </a:pPr>
            <a:r>
              <a:rPr sz="900" b="1" i="0">
                <a:solidFill>
                  <a:srgbClr val="5F6B79"/>
                </a:solidFill>
                <a:latin typeface="Aptos"/>
              </a:rPr>
              <a:t>15.9</a:t>
            </a:r>
          </a:p>
        </p:txBody>
      </p:sp>
      <p:sp>
        <p:nvSpPr>
          <p:cNvPr id="20" name="TextBox 19"/>
          <p:cNvSpPr txBox="1"/>
          <p:nvPr/>
        </p:nvSpPr>
        <p:spPr>
          <a:xfrm>
            <a:off x="1057846" y="5486400"/>
            <a:ext cx="1265301"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Human
Resources</a:t>
            </a:r>
          </a:p>
        </p:txBody>
      </p:sp>
      <p:sp>
        <p:nvSpPr>
          <p:cNvPr id="21" name="Rectangle 20"/>
          <p:cNvSpPr/>
          <p:nvPr/>
        </p:nvSpPr>
        <p:spPr>
          <a:xfrm>
            <a:off x="2121979" y="2402451"/>
            <a:ext cx="393192" cy="3038228"/>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030539" y="2146419"/>
            <a:ext cx="576072" cy="182880"/>
          </a:xfrm>
          <a:prstGeom prst="rect">
            <a:avLst/>
          </a:prstGeom>
          <a:noFill/>
        </p:spPr>
        <p:txBody>
          <a:bodyPr wrap="square" lIns="0" tIns="0" rIns="0" bIns="0" anchor="t">
            <a:spAutoFit/>
          </a:bodyPr>
          <a:lstStyle/>
          <a:p>
            <a:pPr algn="ctr">
              <a:spcAft>
                <a:spcPts val="0"/>
              </a:spcAft>
            </a:pPr>
            <a:r>
              <a:rPr sz="900" b="1" i="0">
                <a:solidFill>
                  <a:srgbClr val="5F6B79"/>
                </a:solidFill>
                <a:latin typeface="Aptos"/>
              </a:rPr>
              <a:t>14.3</a:t>
            </a:r>
          </a:p>
        </p:txBody>
      </p:sp>
      <p:sp>
        <p:nvSpPr>
          <p:cNvPr id="23" name="TextBox 22"/>
          <p:cNvSpPr txBox="1"/>
          <p:nvPr/>
        </p:nvSpPr>
        <p:spPr>
          <a:xfrm>
            <a:off x="1920811" y="5486400"/>
            <a:ext cx="1265301"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IT &amp; Digital
Banking</a:t>
            </a:r>
          </a:p>
        </p:txBody>
      </p:sp>
      <p:sp>
        <p:nvSpPr>
          <p:cNvPr id="24" name="Rectangle 23"/>
          <p:cNvSpPr/>
          <p:nvPr/>
        </p:nvSpPr>
        <p:spPr>
          <a:xfrm>
            <a:off x="2984944" y="2402451"/>
            <a:ext cx="393192" cy="3038228"/>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93504" y="2146419"/>
            <a:ext cx="576072" cy="182880"/>
          </a:xfrm>
          <a:prstGeom prst="rect">
            <a:avLst/>
          </a:prstGeom>
          <a:noFill/>
        </p:spPr>
        <p:txBody>
          <a:bodyPr wrap="square" lIns="0" tIns="0" rIns="0" bIns="0" anchor="t">
            <a:spAutoFit/>
          </a:bodyPr>
          <a:lstStyle/>
          <a:p>
            <a:pPr algn="ctr">
              <a:spcAft>
                <a:spcPts val="0"/>
              </a:spcAft>
            </a:pPr>
            <a:r>
              <a:rPr sz="900" b="1" i="0">
                <a:solidFill>
                  <a:srgbClr val="5F6B79"/>
                </a:solidFill>
                <a:latin typeface="Aptos"/>
              </a:rPr>
              <a:t>14.3</a:t>
            </a:r>
          </a:p>
        </p:txBody>
      </p:sp>
      <p:sp>
        <p:nvSpPr>
          <p:cNvPr id="26" name="TextBox 25"/>
          <p:cNvSpPr txBox="1"/>
          <p:nvPr/>
        </p:nvSpPr>
        <p:spPr>
          <a:xfrm>
            <a:off x="2783776" y="5486400"/>
            <a:ext cx="1265301"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Risk
Management</a:t>
            </a:r>
          </a:p>
        </p:txBody>
      </p:sp>
      <p:sp>
        <p:nvSpPr>
          <p:cNvPr id="27" name="Rectangle 26"/>
          <p:cNvSpPr/>
          <p:nvPr/>
        </p:nvSpPr>
        <p:spPr>
          <a:xfrm>
            <a:off x="3847909" y="2402451"/>
            <a:ext cx="393192" cy="3038228"/>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756469" y="2146419"/>
            <a:ext cx="576072" cy="182880"/>
          </a:xfrm>
          <a:prstGeom prst="rect">
            <a:avLst/>
          </a:prstGeom>
          <a:noFill/>
        </p:spPr>
        <p:txBody>
          <a:bodyPr wrap="square" lIns="0" tIns="0" rIns="0" bIns="0" anchor="t">
            <a:spAutoFit/>
          </a:bodyPr>
          <a:lstStyle/>
          <a:p>
            <a:pPr algn="ctr">
              <a:spcAft>
                <a:spcPts val="0"/>
              </a:spcAft>
            </a:pPr>
            <a:r>
              <a:rPr sz="900" b="1" i="0">
                <a:solidFill>
                  <a:srgbClr val="5F6B79"/>
                </a:solidFill>
                <a:latin typeface="Aptos"/>
              </a:rPr>
              <a:t>14.3</a:t>
            </a:r>
          </a:p>
        </p:txBody>
      </p:sp>
      <p:sp>
        <p:nvSpPr>
          <p:cNvPr id="29" name="TextBox 28"/>
          <p:cNvSpPr txBox="1"/>
          <p:nvPr/>
        </p:nvSpPr>
        <p:spPr>
          <a:xfrm>
            <a:off x="3646741" y="5486400"/>
            <a:ext cx="1265301"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Corporate
Banking</a:t>
            </a:r>
          </a:p>
        </p:txBody>
      </p:sp>
      <p:sp>
        <p:nvSpPr>
          <p:cNvPr id="30" name="Rectangle 29"/>
          <p:cNvSpPr/>
          <p:nvPr/>
        </p:nvSpPr>
        <p:spPr>
          <a:xfrm>
            <a:off x="4710874" y="2423697"/>
            <a:ext cx="393192" cy="3016982"/>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19434" y="2167665"/>
            <a:ext cx="576072" cy="182880"/>
          </a:xfrm>
          <a:prstGeom prst="rect">
            <a:avLst/>
          </a:prstGeom>
          <a:noFill/>
        </p:spPr>
        <p:txBody>
          <a:bodyPr wrap="square" lIns="0" tIns="0" rIns="0" bIns="0" anchor="t">
            <a:spAutoFit/>
          </a:bodyPr>
          <a:lstStyle/>
          <a:p>
            <a:pPr algn="ctr">
              <a:spcAft>
                <a:spcPts val="0"/>
              </a:spcAft>
            </a:pPr>
            <a:r>
              <a:rPr sz="900" b="1" i="0">
                <a:solidFill>
                  <a:srgbClr val="5F6B79"/>
                </a:solidFill>
                <a:latin typeface="Aptos"/>
              </a:rPr>
              <a:t>14.2</a:t>
            </a:r>
          </a:p>
        </p:txBody>
      </p:sp>
      <p:sp>
        <p:nvSpPr>
          <p:cNvPr id="32" name="TextBox 31"/>
          <p:cNvSpPr txBox="1"/>
          <p:nvPr/>
        </p:nvSpPr>
        <p:spPr>
          <a:xfrm>
            <a:off x="4509706" y="5486400"/>
            <a:ext cx="1265301"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Marketing</a:t>
            </a:r>
          </a:p>
        </p:txBody>
      </p:sp>
      <p:sp>
        <p:nvSpPr>
          <p:cNvPr id="33" name="Rectangle 32"/>
          <p:cNvSpPr/>
          <p:nvPr/>
        </p:nvSpPr>
        <p:spPr>
          <a:xfrm>
            <a:off x="5573839" y="2487436"/>
            <a:ext cx="393192" cy="2953243"/>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82399" y="2231404"/>
            <a:ext cx="576072" cy="182880"/>
          </a:xfrm>
          <a:prstGeom prst="rect">
            <a:avLst/>
          </a:prstGeom>
          <a:noFill/>
        </p:spPr>
        <p:txBody>
          <a:bodyPr wrap="square" lIns="0" tIns="0" rIns="0" bIns="0" anchor="t">
            <a:spAutoFit/>
          </a:bodyPr>
          <a:lstStyle/>
          <a:p>
            <a:pPr algn="ctr">
              <a:spcAft>
                <a:spcPts val="0"/>
              </a:spcAft>
            </a:pPr>
            <a:r>
              <a:rPr sz="900" b="1" i="0">
                <a:solidFill>
                  <a:srgbClr val="5F6B79"/>
                </a:solidFill>
                <a:latin typeface="Aptos"/>
              </a:rPr>
              <a:t>13.9</a:t>
            </a:r>
          </a:p>
        </p:txBody>
      </p:sp>
      <p:sp>
        <p:nvSpPr>
          <p:cNvPr id="35" name="TextBox 34"/>
          <p:cNvSpPr txBox="1"/>
          <p:nvPr/>
        </p:nvSpPr>
        <p:spPr>
          <a:xfrm>
            <a:off x="5372671" y="5486400"/>
            <a:ext cx="1265301"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Operations</a:t>
            </a:r>
          </a:p>
        </p:txBody>
      </p:sp>
      <p:sp>
        <p:nvSpPr>
          <p:cNvPr id="36" name="Rectangle 35"/>
          <p:cNvSpPr/>
          <p:nvPr/>
        </p:nvSpPr>
        <p:spPr>
          <a:xfrm>
            <a:off x="6436804" y="2529929"/>
            <a:ext cx="393192" cy="2910750"/>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45364" y="2273897"/>
            <a:ext cx="576072" cy="182880"/>
          </a:xfrm>
          <a:prstGeom prst="rect">
            <a:avLst/>
          </a:prstGeom>
          <a:noFill/>
        </p:spPr>
        <p:txBody>
          <a:bodyPr wrap="square" lIns="0" tIns="0" rIns="0" bIns="0" anchor="t">
            <a:spAutoFit/>
          </a:bodyPr>
          <a:lstStyle/>
          <a:p>
            <a:pPr algn="ctr">
              <a:spcAft>
                <a:spcPts val="0"/>
              </a:spcAft>
            </a:pPr>
            <a:r>
              <a:rPr sz="900" b="1" i="0">
                <a:solidFill>
                  <a:srgbClr val="5F6B79"/>
                </a:solidFill>
                <a:latin typeface="Aptos"/>
              </a:rPr>
              <a:t>13.7</a:t>
            </a:r>
          </a:p>
        </p:txBody>
      </p:sp>
      <p:sp>
        <p:nvSpPr>
          <p:cNvPr id="38" name="TextBox 37"/>
          <p:cNvSpPr txBox="1"/>
          <p:nvPr/>
        </p:nvSpPr>
        <p:spPr>
          <a:xfrm>
            <a:off x="6235636" y="5486400"/>
            <a:ext cx="1265301"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Investment
Banking</a:t>
            </a:r>
          </a:p>
        </p:txBody>
      </p:sp>
      <p:sp>
        <p:nvSpPr>
          <p:cNvPr id="39" name="Rectangle 38"/>
          <p:cNvSpPr/>
          <p:nvPr/>
        </p:nvSpPr>
        <p:spPr>
          <a:xfrm>
            <a:off x="7299769" y="2784885"/>
            <a:ext cx="393192" cy="2655794"/>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208329" y="2528853"/>
            <a:ext cx="576072" cy="182880"/>
          </a:xfrm>
          <a:prstGeom prst="rect">
            <a:avLst/>
          </a:prstGeom>
          <a:noFill/>
        </p:spPr>
        <p:txBody>
          <a:bodyPr wrap="square" lIns="0" tIns="0" rIns="0" bIns="0" anchor="t">
            <a:spAutoFit/>
          </a:bodyPr>
          <a:lstStyle/>
          <a:p>
            <a:pPr algn="ctr">
              <a:spcAft>
                <a:spcPts val="0"/>
              </a:spcAft>
            </a:pPr>
            <a:r>
              <a:rPr sz="900" b="1" i="0">
                <a:solidFill>
                  <a:srgbClr val="5F6B79"/>
                </a:solidFill>
                <a:latin typeface="Aptos"/>
              </a:rPr>
              <a:t>12.5</a:t>
            </a:r>
          </a:p>
        </p:txBody>
      </p:sp>
      <p:sp>
        <p:nvSpPr>
          <p:cNvPr id="41" name="TextBox 40"/>
          <p:cNvSpPr txBox="1"/>
          <p:nvPr/>
        </p:nvSpPr>
        <p:spPr>
          <a:xfrm>
            <a:off x="7098601" y="5486400"/>
            <a:ext cx="1265301" cy="438912"/>
          </a:xfrm>
          <a:prstGeom prst="rect">
            <a:avLst/>
          </a:prstGeom>
          <a:noFill/>
        </p:spPr>
        <p:txBody>
          <a:bodyPr wrap="square" lIns="45720" rIns="45720" anchor="t">
            <a:spAutoFit/>
          </a:bodyPr>
          <a:lstStyle/>
          <a:p>
            <a:pPr algn="ctr">
              <a:spcAft>
                <a:spcPts val="0"/>
              </a:spcAft>
            </a:pPr>
            <a:r>
              <a:rPr sz="800" b="0" i="0">
                <a:solidFill>
                  <a:srgbClr val="5F6B79"/>
                </a:solidFill>
                <a:latin typeface="Aptos"/>
              </a:rPr>
              <a:t>Retail
Banking</a:t>
            </a:r>
          </a:p>
        </p:txBody>
      </p:sp>
      <p:sp>
        <p:nvSpPr>
          <p:cNvPr id="42" name="Rounded Rectangle 41"/>
          <p:cNvSpPr/>
          <p:nvPr/>
        </p:nvSpPr>
        <p:spPr>
          <a:xfrm>
            <a:off x="8613648" y="1097280"/>
            <a:ext cx="3035808" cy="5230368"/>
          </a:xfrm>
          <a:prstGeom prst="roundRect">
            <a:avLst/>
          </a:prstGeom>
          <a:solidFill>
            <a:srgbClr val="F4F8FD"/>
          </a:solidFill>
          <a:ln w="10160">
            <a:solidFill>
              <a:srgbClr val="C7D8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8887968" y="1417320"/>
            <a:ext cx="1234440" cy="283464"/>
          </a:xfrm>
          <a:prstGeom prst="roundRect">
            <a:avLst/>
          </a:prstGeom>
          <a:solidFill>
            <a:srgbClr val="E1EFFF"/>
          </a:solidFill>
          <a:ln w="10160">
            <a:solidFill>
              <a:srgbClr val="E1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942832" y="1458468"/>
            <a:ext cx="1124712" cy="182880"/>
          </a:xfrm>
          <a:prstGeom prst="rect">
            <a:avLst/>
          </a:prstGeom>
          <a:noFill/>
        </p:spPr>
        <p:txBody>
          <a:bodyPr wrap="square" lIns="0" tIns="0" rIns="0" bIns="0" anchor="ctr">
            <a:spAutoFit/>
          </a:bodyPr>
          <a:lstStyle/>
          <a:p>
            <a:pPr algn="ctr">
              <a:spcAft>
                <a:spcPts val="0"/>
              </a:spcAft>
            </a:pPr>
            <a:r>
              <a:rPr sz="900" b="1" i="0">
                <a:solidFill>
                  <a:srgbClr val="1146BE"/>
                </a:solidFill>
                <a:latin typeface="Aptos"/>
              </a:rPr>
              <a:t>KEY FINDING</a:t>
            </a:r>
          </a:p>
        </p:txBody>
      </p:sp>
      <p:sp>
        <p:nvSpPr>
          <p:cNvPr id="45" name="TextBox 44"/>
          <p:cNvSpPr txBox="1"/>
          <p:nvPr/>
        </p:nvSpPr>
        <p:spPr>
          <a:xfrm>
            <a:off x="8887968" y="1938528"/>
            <a:ext cx="2286000" cy="228600"/>
          </a:xfrm>
          <a:prstGeom prst="rect">
            <a:avLst/>
          </a:prstGeom>
          <a:noFill/>
        </p:spPr>
        <p:txBody>
          <a:bodyPr wrap="square" lIns="45720" rIns="45720" anchor="t">
            <a:spAutoFit/>
          </a:bodyPr>
          <a:lstStyle/>
          <a:p>
            <a:pPr algn="l">
              <a:spcAft>
                <a:spcPts val="0"/>
              </a:spcAft>
            </a:pPr>
            <a:r>
              <a:rPr sz="1100" b="1" i="0">
                <a:solidFill>
                  <a:srgbClr val="5F6B79"/>
                </a:solidFill>
                <a:latin typeface="Aptos"/>
              </a:rPr>
              <a:t>Highest average</a:t>
            </a:r>
          </a:p>
        </p:txBody>
      </p:sp>
      <p:sp>
        <p:nvSpPr>
          <p:cNvPr id="46" name="TextBox 45"/>
          <p:cNvSpPr txBox="1"/>
          <p:nvPr/>
        </p:nvSpPr>
        <p:spPr>
          <a:xfrm>
            <a:off x="8887968" y="2240280"/>
            <a:ext cx="2423160" cy="384048"/>
          </a:xfrm>
          <a:prstGeom prst="rect">
            <a:avLst/>
          </a:prstGeom>
          <a:noFill/>
        </p:spPr>
        <p:txBody>
          <a:bodyPr wrap="square" lIns="45720" rIns="45720" anchor="t">
            <a:spAutoFit/>
          </a:bodyPr>
          <a:lstStyle/>
          <a:p>
            <a:pPr algn="l">
              <a:spcAft>
                <a:spcPts val="0"/>
              </a:spcAft>
            </a:pPr>
            <a:r>
              <a:rPr sz="1800" b="1" i="0">
                <a:solidFill>
                  <a:srgbClr val="071C39"/>
                </a:solidFill>
                <a:latin typeface="Aptos"/>
              </a:rPr>
              <a:t>HR  •  15.9 hrs</a:t>
            </a:r>
          </a:p>
        </p:txBody>
      </p:sp>
      <p:sp>
        <p:nvSpPr>
          <p:cNvPr id="47" name="TextBox 46"/>
          <p:cNvSpPr txBox="1"/>
          <p:nvPr/>
        </p:nvSpPr>
        <p:spPr>
          <a:xfrm>
            <a:off x="8887968" y="2852928"/>
            <a:ext cx="2286000" cy="228600"/>
          </a:xfrm>
          <a:prstGeom prst="rect">
            <a:avLst/>
          </a:prstGeom>
          <a:noFill/>
        </p:spPr>
        <p:txBody>
          <a:bodyPr wrap="square" lIns="45720" rIns="45720" anchor="t">
            <a:spAutoFit/>
          </a:bodyPr>
          <a:lstStyle/>
          <a:p>
            <a:pPr algn="l">
              <a:spcAft>
                <a:spcPts val="0"/>
              </a:spcAft>
            </a:pPr>
            <a:r>
              <a:rPr sz="1100" b="1" i="0">
                <a:solidFill>
                  <a:srgbClr val="5F6B79"/>
                </a:solidFill>
                <a:latin typeface="Aptos"/>
              </a:rPr>
              <a:t>Lowest average</a:t>
            </a:r>
          </a:p>
        </p:txBody>
      </p:sp>
      <p:sp>
        <p:nvSpPr>
          <p:cNvPr id="48" name="TextBox 47"/>
          <p:cNvSpPr txBox="1"/>
          <p:nvPr/>
        </p:nvSpPr>
        <p:spPr>
          <a:xfrm>
            <a:off x="8887968" y="3154680"/>
            <a:ext cx="2514600" cy="475488"/>
          </a:xfrm>
          <a:prstGeom prst="rect">
            <a:avLst/>
          </a:prstGeom>
          <a:noFill/>
        </p:spPr>
        <p:txBody>
          <a:bodyPr wrap="square" lIns="45720" rIns="45720" anchor="t">
            <a:spAutoFit/>
          </a:bodyPr>
          <a:lstStyle/>
          <a:p>
            <a:pPr algn="l">
              <a:spcAft>
                <a:spcPts val="0"/>
              </a:spcAft>
            </a:pPr>
            <a:r>
              <a:rPr sz="1500" b="1" i="0">
                <a:solidFill>
                  <a:srgbClr val="071C39"/>
                </a:solidFill>
                <a:latin typeface="Aptos"/>
              </a:rPr>
              <a:t>Retail Banking  •  12.5 hrs</a:t>
            </a:r>
          </a:p>
        </p:txBody>
      </p:sp>
      <p:sp>
        <p:nvSpPr>
          <p:cNvPr id="49" name="Rounded Rectangle 48"/>
          <p:cNvSpPr/>
          <p:nvPr/>
        </p:nvSpPr>
        <p:spPr>
          <a:xfrm>
            <a:off x="8887968" y="3886200"/>
            <a:ext cx="2423160" cy="1444752"/>
          </a:xfrm>
          <a:prstGeom prst="roundRect">
            <a:avLst/>
          </a:prstGeom>
          <a:solidFill>
            <a:srgbClr val="FFFFFF"/>
          </a:solidFill>
          <a:ln w="10160">
            <a:solidFill>
              <a:srgbClr val="CF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052560" y="4096512"/>
            <a:ext cx="2011680" cy="256032"/>
          </a:xfrm>
          <a:prstGeom prst="rect">
            <a:avLst/>
          </a:prstGeom>
          <a:noFill/>
        </p:spPr>
        <p:txBody>
          <a:bodyPr wrap="square" lIns="45720" rIns="45720" anchor="t">
            <a:spAutoFit/>
          </a:bodyPr>
          <a:lstStyle/>
          <a:p>
            <a:pPr algn="l">
              <a:spcAft>
                <a:spcPts val="0"/>
              </a:spcAft>
            </a:pPr>
            <a:r>
              <a:rPr sz="1200" b="1" i="0">
                <a:solidFill>
                  <a:srgbClr val="1146BE"/>
                </a:solidFill>
                <a:latin typeface="Aptos"/>
              </a:rPr>
              <a:t>Difference: 3.4 hours</a:t>
            </a:r>
          </a:p>
        </p:txBody>
      </p:sp>
      <p:sp>
        <p:nvSpPr>
          <p:cNvPr id="51" name="TextBox 50"/>
          <p:cNvSpPr txBox="1"/>
          <p:nvPr/>
        </p:nvSpPr>
        <p:spPr>
          <a:xfrm>
            <a:off x="9052560" y="4434840"/>
            <a:ext cx="2011680" cy="685800"/>
          </a:xfrm>
          <a:prstGeom prst="rect">
            <a:avLst/>
          </a:prstGeom>
          <a:noFill/>
        </p:spPr>
        <p:txBody>
          <a:bodyPr wrap="square" lIns="45720" rIns="45720" anchor="t">
            <a:spAutoFit/>
          </a:bodyPr>
          <a:lstStyle/>
          <a:p>
            <a:pPr algn="l">
              <a:spcAft>
                <a:spcPts val="0"/>
              </a:spcAft>
            </a:pPr>
            <a:r>
              <a:rPr sz="1100" b="0" i="0">
                <a:solidFill>
                  <a:srgbClr val="1F2A38"/>
                </a:solidFill>
                <a:latin typeface="Aptos"/>
              </a:rPr>
              <a:t>This is a difference in average training time—not proof of training effectiveness or compliance.</a:t>
            </a:r>
          </a:p>
        </p:txBody>
      </p:sp>
      <p:sp>
        <p:nvSpPr>
          <p:cNvPr id="52" name="TextBox 51"/>
          <p:cNvSpPr txBox="1"/>
          <p:nvPr/>
        </p:nvSpPr>
        <p:spPr>
          <a:xfrm>
            <a:off x="8887968" y="5687568"/>
            <a:ext cx="2423160" cy="365760"/>
          </a:xfrm>
          <a:prstGeom prst="rect">
            <a:avLst/>
          </a:prstGeom>
          <a:noFill/>
        </p:spPr>
        <p:txBody>
          <a:bodyPr wrap="square" lIns="45720" rIns="45720" anchor="t">
            <a:spAutoFit/>
          </a:bodyPr>
          <a:lstStyle/>
          <a:p>
            <a:pPr algn="l">
              <a:spcAft>
                <a:spcPts val="0"/>
              </a:spcAft>
            </a:pPr>
            <a:r>
              <a:rPr sz="900" b="0" i="0">
                <a:solidFill>
                  <a:srgbClr val="5F6B79"/>
                </a:solidFill>
                <a:latin typeface="Aptos"/>
              </a:rPr>
              <a:t>Axis: Department  •  Measure: Average Training Hours</a:t>
            </a:r>
          </a:p>
        </p:txBody>
      </p:sp>
      <p:sp>
        <p:nvSpPr>
          <p:cNvPr id="7" name="Rectangle: Rounded Corners 6">
            <a:extLst>
              <a:ext uri="{FF2B5EF4-FFF2-40B4-BE49-F238E27FC236}">
                <a16:creationId xmlns:a16="http://schemas.microsoft.com/office/drawing/2014/main" id="{314B55C4-882B-9088-5022-A6DA0BAF396D}"/>
              </a:ext>
            </a:extLst>
          </p:cNvPr>
          <p:cNvSpPr/>
          <p:nvPr/>
        </p:nvSpPr>
        <p:spPr>
          <a:xfrm>
            <a:off x="649224" y="1097280"/>
            <a:ext cx="7488936" cy="523036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4" name="Picture 53">
            <a:extLst>
              <a:ext uri="{FF2B5EF4-FFF2-40B4-BE49-F238E27FC236}">
                <a16:creationId xmlns:a16="http://schemas.microsoft.com/office/drawing/2014/main" id="{7F82493A-9ACA-E118-E93D-54F67FFE146E}"/>
              </a:ext>
            </a:extLst>
          </p:cNvPr>
          <p:cNvPicPr>
            <a:picLocks noChangeAspect="1"/>
          </p:cNvPicPr>
          <p:nvPr/>
        </p:nvPicPr>
        <p:blipFill>
          <a:blip r:embed="rId3"/>
          <a:stretch>
            <a:fillRect/>
          </a:stretch>
        </p:blipFill>
        <p:spPr>
          <a:xfrm>
            <a:off x="880872" y="1316738"/>
            <a:ext cx="6959349" cy="474412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698480" cy="502920"/>
          </a:xfrm>
          <a:prstGeom prst="rect">
            <a:avLst/>
          </a:prstGeom>
          <a:noFill/>
        </p:spPr>
        <p:txBody>
          <a:bodyPr wrap="square" lIns="45720" rIns="45720" anchor="t">
            <a:spAutoFit/>
          </a:bodyPr>
          <a:lstStyle/>
          <a:p>
            <a:pPr algn="l">
              <a:spcAft>
                <a:spcPts val="0"/>
              </a:spcAft>
            </a:pPr>
            <a:r>
              <a:rPr sz="2600" b="1" i="0">
                <a:solidFill>
                  <a:srgbClr val="FFFFFF"/>
                </a:solidFill>
                <a:latin typeface="Aptos"/>
              </a:rPr>
              <a:t>ML Method: Learning Type and Model Inputs</a:t>
            </a:r>
          </a:p>
        </p:txBody>
      </p:sp>
      <p:sp>
        <p:nvSpPr>
          <p:cNvPr id="4" name="Rectangle 3"/>
          <p:cNvSpPr/>
          <p:nvPr/>
        </p:nvSpPr>
        <p:spPr>
          <a:xfrm>
            <a:off x="530352" y="850392"/>
            <a:ext cx="713232" cy="50292"/>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44200" y="6528816"/>
            <a:ext cx="914400" cy="230832"/>
          </a:xfrm>
          <a:prstGeom prst="rect">
            <a:avLst/>
          </a:prstGeom>
          <a:noFill/>
        </p:spPr>
        <p:txBody>
          <a:bodyPr wrap="square" lIns="45720" rIns="45720" anchor="t">
            <a:spAutoFit/>
          </a:bodyPr>
          <a:lstStyle/>
          <a:p>
            <a:pPr algn="r">
              <a:spcAft>
                <a:spcPts val="0"/>
              </a:spcAft>
            </a:pPr>
            <a:r>
              <a:rPr sz="900" b="0" i="0" dirty="0">
                <a:solidFill>
                  <a:srgbClr val="B0C2D8"/>
                </a:solidFill>
                <a:latin typeface="Aptos"/>
              </a:rPr>
              <a:t>0</a:t>
            </a:r>
            <a:r>
              <a:rPr lang="en-US" sz="900" b="0" i="0" dirty="0">
                <a:solidFill>
                  <a:srgbClr val="B0C2D8"/>
                </a:solidFill>
                <a:latin typeface="Aptos"/>
              </a:rPr>
              <a:t>7</a:t>
            </a:r>
            <a:r>
              <a:rPr sz="900" b="0" i="0" dirty="0">
                <a:solidFill>
                  <a:srgbClr val="B0C2D8"/>
                </a:solidFill>
                <a:latin typeface="Aptos"/>
              </a:rPr>
              <a:t>/  09</a:t>
            </a:r>
          </a:p>
        </p:txBody>
      </p:sp>
      <p:sp>
        <p:nvSpPr>
          <p:cNvPr id="8" name="TextBox 7"/>
          <p:cNvSpPr txBox="1"/>
          <p:nvPr/>
        </p:nvSpPr>
        <p:spPr>
          <a:xfrm>
            <a:off x="566928" y="1024128"/>
            <a:ext cx="11000000" cy="384048"/>
          </a:xfrm>
          <a:prstGeom prst="rect">
            <a:avLst/>
          </a:prstGeom>
          <a:noFill/>
        </p:spPr>
        <p:txBody>
          <a:bodyPr wrap="square" lIns="45720" rIns="45720" anchor="t">
            <a:spAutoFit/>
          </a:bodyPr>
          <a:lstStyle/>
          <a:p>
            <a:pPr algn="l">
              <a:spcAft>
                <a:spcPts val="0"/>
              </a:spcAft>
            </a:pPr>
            <a:r>
              <a:rPr sz="1400" b="0">
                <a:solidFill>
                  <a:srgbClr val="D5E2F2"/>
                </a:solidFill>
                <a:latin typeface="Aptos"/>
              </a:rPr>
              <a:t>Supervised learning with logistic regression predicts whether an employee’s training will lapse (Pending).</a:t>
            </a:r>
          </a:p>
        </p:txBody>
      </p:sp>
      <p:sp>
        <p:nvSpPr>
          <p:cNvPr id="3001" name="Left card"/>
          <p:cNvSpPr/>
          <p:nvPr/>
        </p:nvSpPr>
        <p:spPr>
          <a:xfrm>
            <a:off x="566928" y="1558000"/>
            <a:ext cx="9756648" cy="4531904"/>
          </a:xfrm>
          <a:prstGeom prst="roundRect">
            <a:avLst>
              <a:gd name="adj" fmla="val 3500"/>
            </a:avLst>
          </a:prstGeom>
          <a:solidFill>
            <a:srgbClr val="FFFFFF"/>
          </a:solidFill>
          <a:ln w="10160">
            <a:solidFill>
              <a:srgbClr val="C9D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02" name="Left title"/>
          <p:cNvSpPr txBox="1"/>
          <p:nvPr/>
        </p:nvSpPr>
        <p:spPr>
          <a:xfrm>
            <a:off x="2097000" y="1750000"/>
            <a:ext cx="6000000" cy="230000"/>
          </a:xfrm>
          <a:prstGeom prst="rect">
            <a:avLst/>
          </a:prstGeom>
          <a:noFill/>
        </p:spPr>
        <p:txBody>
          <a:bodyPr wrap="square" lIns="45720" tIns="0" rIns="45720" bIns="0" anchor="t"/>
          <a:lstStyle/>
          <a:p>
            <a:pPr algn="l">
              <a:spcAft>
                <a:spcPts val="0"/>
              </a:spcAft>
            </a:pPr>
            <a:r>
              <a:rPr lang="en-US" sz="1000" b="1" i="0" dirty="0">
                <a:solidFill>
                  <a:srgbClr val="1C4FBF"/>
                </a:solidFill>
                <a:latin typeface="Aptos"/>
              </a:rPr>
              <a:t>MODEL OPTIONS BY PREDICTION GOAL</a:t>
            </a:r>
          </a:p>
        </p:txBody>
      </p:sp>
      <p:sp>
        <p:nvSpPr>
          <p:cNvPr id="3003" name="Left header"/>
          <p:cNvSpPr/>
          <p:nvPr/>
        </p:nvSpPr>
        <p:spPr>
          <a:xfrm>
            <a:off x="2097000" y="2060000"/>
            <a:ext cx="6700000" cy="330000"/>
          </a:xfrm>
          <a:prstGeom prst="rect">
            <a:avLst/>
          </a:prstGeom>
          <a:solidFill>
            <a:srgbClr val="071C39"/>
          </a:solidFill>
          <a:ln>
            <a:noFill/>
          </a:ln>
          <a:effectLst/>
        </p:spPr>
        <p:txBody>
          <a:bodyPr rtlCol="0" anchor="ctr"/>
          <a:lstStyle/>
          <a:p>
            <a:pPr algn="ctr"/>
            <a:endParaRPr lang="en-US"/>
          </a:p>
        </p:txBody>
      </p:sp>
      <p:sp>
        <p:nvSpPr>
          <p:cNvPr id="3004" name="LH Prediction goal"/>
          <p:cNvSpPr txBox="1"/>
          <p:nvPr/>
        </p:nvSpPr>
        <p:spPr>
          <a:xfrm>
            <a:off x="2097000" y="2060000"/>
            <a:ext cx="1900000" cy="330000"/>
          </a:xfrm>
          <a:prstGeom prst="rect">
            <a:avLst/>
          </a:prstGeom>
          <a:noFill/>
        </p:spPr>
        <p:txBody>
          <a:bodyPr wrap="square" lIns="91440" tIns="0" rIns="91440" bIns="0" anchor="ctr"/>
          <a:lstStyle/>
          <a:p>
            <a:pPr algn="l">
              <a:spcAft>
                <a:spcPts val="0"/>
              </a:spcAft>
            </a:pPr>
            <a:r>
              <a:rPr lang="en-US" sz="1000" b="1" i="0" dirty="0">
                <a:solidFill>
                  <a:srgbClr val="FFFFFF"/>
                </a:solidFill>
                <a:latin typeface="Aptos"/>
              </a:rPr>
              <a:t>PREDICTION GOAL</a:t>
            </a:r>
          </a:p>
        </p:txBody>
      </p:sp>
      <p:sp>
        <p:nvSpPr>
          <p:cNvPr id="3005" name="LH Target"/>
          <p:cNvSpPr txBox="1"/>
          <p:nvPr/>
        </p:nvSpPr>
        <p:spPr>
          <a:xfrm>
            <a:off x="3997000" y="2060000"/>
            <a:ext cx="1650000" cy="330000"/>
          </a:xfrm>
          <a:prstGeom prst="rect">
            <a:avLst/>
          </a:prstGeom>
          <a:noFill/>
        </p:spPr>
        <p:txBody>
          <a:bodyPr wrap="square" lIns="91440" tIns="0" rIns="91440" bIns="0" anchor="ctr"/>
          <a:lstStyle/>
          <a:p>
            <a:pPr algn="l">
              <a:spcAft>
                <a:spcPts val="0"/>
              </a:spcAft>
            </a:pPr>
            <a:r>
              <a:rPr lang="en-US" sz="1000" b="1" i="0" dirty="0">
                <a:solidFill>
                  <a:srgbClr val="FFFFFF"/>
                </a:solidFill>
                <a:latin typeface="Aptos"/>
              </a:rPr>
              <a:t>TARGET</a:t>
            </a:r>
          </a:p>
        </p:txBody>
      </p:sp>
      <p:sp>
        <p:nvSpPr>
          <p:cNvPr id="3006" name="LH Learning type"/>
          <p:cNvSpPr txBox="1"/>
          <p:nvPr/>
        </p:nvSpPr>
        <p:spPr>
          <a:xfrm>
            <a:off x="5647000" y="2060000"/>
            <a:ext cx="1650000" cy="330000"/>
          </a:xfrm>
          <a:prstGeom prst="rect">
            <a:avLst/>
          </a:prstGeom>
          <a:noFill/>
        </p:spPr>
        <p:txBody>
          <a:bodyPr wrap="square" lIns="91440" tIns="0" rIns="91440" bIns="0" anchor="ctr"/>
          <a:lstStyle/>
          <a:p>
            <a:pPr algn="l">
              <a:spcAft>
                <a:spcPts val="0"/>
              </a:spcAft>
            </a:pPr>
            <a:r>
              <a:rPr lang="en-US" sz="1000" b="1" i="0" dirty="0">
                <a:solidFill>
                  <a:srgbClr val="FFFFFF"/>
                </a:solidFill>
                <a:latin typeface="Aptos"/>
              </a:rPr>
              <a:t>LEARNING TYPE</a:t>
            </a:r>
          </a:p>
        </p:txBody>
      </p:sp>
      <p:sp>
        <p:nvSpPr>
          <p:cNvPr id="3007" name="LH Model"/>
          <p:cNvSpPr txBox="1"/>
          <p:nvPr/>
        </p:nvSpPr>
        <p:spPr>
          <a:xfrm>
            <a:off x="7297000" y="2088176"/>
            <a:ext cx="2539912" cy="301824"/>
          </a:xfrm>
          <a:prstGeom prst="rect">
            <a:avLst/>
          </a:prstGeom>
          <a:noFill/>
        </p:spPr>
        <p:txBody>
          <a:bodyPr wrap="square" lIns="91440" tIns="0" rIns="91440" bIns="0" anchor="ctr"/>
          <a:lstStyle/>
          <a:p>
            <a:pPr algn="l">
              <a:spcAft>
                <a:spcPts val="0"/>
              </a:spcAft>
            </a:pPr>
            <a:r>
              <a:rPr lang="en-US" sz="1000" b="1" i="0" dirty="0">
                <a:solidFill>
                  <a:srgbClr val="FFFFFF"/>
                </a:solidFill>
                <a:latin typeface="Aptos"/>
              </a:rPr>
              <a:t>MODEL</a:t>
            </a:r>
          </a:p>
        </p:txBody>
      </p:sp>
      <p:sp>
        <p:nvSpPr>
          <p:cNvPr id="3008" name="LRow 1"/>
          <p:cNvSpPr/>
          <p:nvPr/>
        </p:nvSpPr>
        <p:spPr>
          <a:xfrm>
            <a:off x="2097000" y="2390000"/>
            <a:ext cx="6700000" cy="680000"/>
          </a:xfrm>
          <a:prstGeom prst="rect">
            <a:avLst/>
          </a:prstGeom>
          <a:solidFill>
            <a:srgbClr val="DCEBFB"/>
          </a:solidFill>
          <a:ln>
            <a:noFill/>
          </a:ln>
          <a:effectLst/>
        </p:spPr>
        <p:txBody>
          <a:bodyPr rtlCol="0" anchor="ctr"/>
          <a:lstStyle/>
          <a:p>
            <a:pPr algn="ctr"/>
            <a:endParaRPr lang="en-US"/>
          </a:p>
        </p:txBody>
      </p:sp>
      <p:sp>
        <p:nvSpPr>
          <p:cNvPr id="3009" name="LC 1-1"/>
          <p:cNvSpPr txBox="1"/>
          <p:nvPr/>
        </p:nvSpPr>
        <p:spPr>
          <a:xfrm>
            <a:off x="2097000" y="2390000"/>
            <a:ext cx="1900000" cy="680000"/>
          </a:xfrm>
          <a:prstGeom prst="rect">
            <a:avLst/>
          </a:prstGeom>
          <a:noFill/>
        </p:spPr>
        <p:txBody>
          <a:bodyPr wrap="square" lIns="91440" tIns="0" rIns="91440" bIns="0" anchor="ctr"/>
          <a:lstStyle/>
          <a:p>
            <a:pPr algn="l">
              <a:spcAft>
                <a:spcPts val="0"/>
              </a:spcAft>
            </a:pPr>
            <a:r>
              <a:rPr lang="en-US" sz="1100" b="1" i="0" dirty="0">
                <a:solidFill>
                  <a:srgbClr val="071C39"/>
                </a:solidFill>
                <a:latin typeface="Aptos"/>
              </a:rPr>
              <a:t>Will training lapse?</a:t>
            </a:r>
          </a:p>
        </p:txBody>
      </p:sp>
      <p:sp>
        <p:nvSpPr>
          <p:cNvPr id="3010" name="LC 1-2"/>
          <p:cNvSpPr txBox="1"/>
          <p:nvPr/>
        </p:nvSpPr>
        <p:spPr>
          <a:xfrm>
            <a:off x="3997000" y="2390000"/>
            <a:ext cx="1650000" cy="680000"/>
          </a:xfrm>
          <a:prstGeom prst="rect">
            <a:avLst/>
          </a:prstGeom>
          <a:noFill/>
        </p:spPr>
        <p:txBody>
          <a:bodyPr wrap="square" lIns="91440" tIns="0" rIns="91440" bIns="0" anchor="ctr"/>
          <a:lstStyle/>
          <a:p>
            <a:pPr algn="l">
              <a:spcAft>
                <a:spcPts val="0"/>
              </a:spcAft>
            </a:pPr>
            <a:r>
              <a:rPr lang="en-US" sz="1100" b="1" i="0" dirty="0">
                <a:solidFill>
                  <a:srgbClr val="071C39"/>
                </a:solidFill>
                <a:latin typeface="Aptos"/>
              </a:rPr>
              <a:t>Training Status </a:t>
            </a:r>
          </a:p>
        </p:txBody>
      </p:sp>
      <p:sp>
        <p:nvSpPr>
          <p:cNvPr id="3011" name="LC 1-3"/>
          <p:cNvSpPr txBox="1"/>
          <p:nvPr/>
        </p:nvSpPr>
        <p:spPr>
          <a:xfrm>
            <a:off x="5647000" y="2390000"/>
            <a:ext cx="1650000" cy="680000"/>
          </a:xfrm>
          <a:prstGeom prst="rect">
            <a:avLst/>
          </a:prstGeom>
          <a:noFill/>
        </p:spPr>
        <p:txBody>
          <a:bodyPr wrap="square" lIns="91440" tIns="0" rIns="91440" bIns="0" anchor="ctr"/>
          <a:lstStyle/>
          <a:p>
            <a:pPr algn="l">
              <a:spcAft>
                <a:spcPts val="0"/>
              </a:spcAft>
            </a:pPr>
            <a:r>
              <a:rPr lang="en-US" sz="1100" b="1" i="0" dirty="0">
                <a:solidFill>
                  <a:srgbClr val="071C39"/>
                </a:solidFill>
                <a:latin typeface="Aptos"/>
              </a:rPr>
              <a:t>Supervised (classification)</a:t>
            </a:r>
          </a:p>
        </p:txBody>
      </p:sp>
      <p:sp>
        <p:nvSpPr>
          <p:cNvPr id="3012" name="LC 1-4"/>
          <p:cNvSpPr txBox="1"/>
          <p:nvPr/>
        </p:nvSpPr>
        <p:spPr>
          <a:xfrm>
            <a:off x="7297000" y="2390000"/>
            <a:ext cx="2421040" cy="540000"/>
          </a:xfrm>
          <a:prstGeom prst="rect">
            <a:avLst/>
          </a:prstGeom>
          <a:noFill/>
        </p:spPr>
        <p:txBody>
          <a:bodyPr wrap="square" lIns="91440" tIns="0" rIns="91440" bIns="0" anchor="ctr"/>
          <a:lstStyle/>
          <a:p>
            <a:pPr algn="l">
              <a:spcAft>
                <a:spcPts val="0"/>
              </a:spcAft>
            </a:pPr>
            <a:r>
              <a:rPr lang="en-US" sz="1100" b="1" i="0" dirty="0">
                <a:solidFill>
                  <a:srgbClr val="071C39"/>
                </a:solidFill>
                <a:latin typeface="Aptos"/>
              </a:rPr>
              <a:t>Logistic regression </a:t>
            </a:r>
          </a:p>
        </p:txBody>
      </p:sp>
      <p:sp>
        <p:nvSpPr>
          <p:cNvPr id="3013" name="LRow 2"/>
          <p:cNvSpPr/>
          <p:nvPr/>
        </p:nvSpPr>
        <p:spPr>
          <a:xfrm>
            <a:off x="757185" y="3224999"/>
            <a:ext cx="8039815" cy="535001"/>
          </a:xfrm>
          <a:prstGeom prst="rect">
            <a:avLst/>
          </a:prstGeom>
          <a:solidFill>
            <a:srgbClr val="F1F6FC"/>
          </a:solidFill>
          <a:ln>
            <a:noFill/>
          </a:ln>
          <a:effectLst/>
        </p:spPr>
        <p:txBody>
          <a:bodyPr rtlCol="0" anchor="ctr"/>
          <a:lstStyle/>
          <a:p>
            <a:r>
              <a:rPr lang="en-US" b="1" dirty="0">
                <a:solidFill>
                  <a:srgbClr val="1C4FBF"/>
                </a:solidFill>
                <a:latin typeface="Aptos"/>
              </a:rPr>
              <a:t>WHY LOGISTIC REGRESSION</a:t>
            </a:r>
          </a:p>
        </p:txBody>
      </p:sp>
      <p:sp>
        <p:nvSpPr>
          <p:cNvPr id="3016" name="LC 2-3"/>
          <p:cNvSpPr txBox="1"/>
          <p:nvPr/>
        </p:nvSpPr>
        <p:spPr>
          <a:xfrm>
            <a:off x="5647000" y="3070000"/>
            <a:ext cx="1650000" cy="680000"/>
          </a:xfrm>
          <a:prstGeom prst="rect">
            <a:avLst/>
          </a:prstGeom>
          <a:noFill/>
        </p:spPr>
        <p:txBody>
          <a:bodyPr wrap="square" lIns="91440" tIns="0" rIns="91440" bIns="0" anchor="ctr"/>
          <a:lstStyle/>
          <a:p>
            <a:pPr algn="l">
              <a:spcAft>
                <a:spcPts val="0"/>
              </a:spcAft>
            </a:pPr>
            <a:endParaRPr lang="en-US" sz="1100" b="0" i="0" dirty="0">
              <a:solidFill>
                <a:srgbClr val="1F2A38"/>
              </a:solidFill>
              <a:latin typeface="Aptos"/>
            </a:endParaRPr>
          </a:p>
        </p:txBody>
      </p:sp>
      <p:sp>
        <p:nvSpPr>
          <p:cNvPr id="3018" name="LRow 3"/>
          <p:cNvSpPr/>
          <p:nvPr/>
        </p:nvSpPr>
        <p:spPr>
          <a:xfrm>
            <a:off x="2097000" y="3750000"/>
            <a:ext cx="6700000" cy="680000"/>
          </a:xfrm>
          <a:prstGeom prst="rect">
            <a:avLst/>
          </a:prstGeom>
          <a:solidFill>
            <a:srgbClr val="FFFFFF"/>
          </a:solidFill>
          <a:ln>
            <a:noFill/>
          </a:ln>
          <a:effectLst/>
        </p:spPr>
        <p:txBody>
          <a:bodyPr rtlCol="0" anchor="ctr"/>
          <a:lstStyle/>
          <a:p>
            <a:pPr algn="ctr"/>
            <a:endParaRPr lang="en-US"/>
          </a:p>
        </p:txBody>
      </p:sp>
      <p:sp>
        <p:nvSpPr>
          <p:cNvPr id="3019" name="LC 3-1"/>
          <p:cNvSpPr txBox="1"/>
          <p:nvPr/>
        </p:nvSpPr>
        <p:spPr>
          <a:xfrm>
            <a:off x="700001" y="3832683"/>
            <a:ext cx="9891370" cy="623451"/>
          </a:xfrm>
          <a:prstGeom prst="rect">
            <a:avLst/>
          </a:prstGeom>
          <a:noFill/>
        </p:spPr>
        <p:txBody>
          <a:bodyPr wrap="square" lIns="91440" tIns="0" rIns="91440" bIns="0" anchor="ctr"/>
          <a:lstStyle/>
          <a:p>
            <a:r>
              <a:rPr lang="en-US" sz="1400" b="1" dirty="0">
                <a:solidFill>
                  <a:srgbClr val="1F2A38"/>
                </a:solidFill>
                <a:latin typeface="Aptos"/>
              </a:rPr>
              <a:t>The outcome has two classes (Completed or Pending), so logistic regression gives the probability that training lapses. </a:t>
            </a:r>
          </a:p>
        </p:txBody>
      </p:sp>
      <p:sp>
        <p:nvSpPr>
          <p:cNvPr id="3023" name="Selected note"/>
          <p:cNvSpPr txBox="1"/>
          <p:nvPr/>
        </p:nvSpPr>
        <p:spPr>
          <a:xfrm>
            <a:off x="700000" y="4490000"/>
            <a:ext cx="9018040" cy="1040000"/>
          </a:xfrm>
          <a:prstGeom prst="rect">
            <a:avLst/>
          </a:prstGeom>
          <a:noFill/>
        </p:spPr>
        <p:txBody>
          <a:bodyPr wrap="square" lIns="45720" tIns="0" rIns="45720" bIns="0" anchor="t"/>
          <a:lstStyle/>
          <a:p>
            <a:pPr algn="ctr"/>
            <a:r>
              <a:rPr lang="en-IN" b="1" dirty="0"/>
              <a:t>Logistic regression </a:t>
            </a:r>
            <a:r>
              <a:rPr lang="en-IN" dirty="0"/>
              <a:t>is a </a:t>
            </a:r>
            <a:r>
              <a:rPr lang="en-IN" b="1" dirty="0"/>
              <a:t>supervised learning</a:t>
            </a:r>
            <a:r>
              <a:rPr lang="en-IN" dirty="0"/>
              <a:t> method that predicts the </a:t>
            </a:r>
            <a:r>
              <a:rPr lang="en-IN" b="1" dirty="0"/>
              <a:t>probability that an observation belongs to a class</a:t>
            </a:r>
            <a:r>
              <a:rPr lang="en-IN" dirty="0"/>
              <a:t>. It is mostly used when the outcome has two possible values, such as Yes/No, Pass/Fail or Pending/Completed</a:t>
            </a:r>
            <a:r>
              <a:rPr lang="en-IN" sz="1000" dirty="0"/>
              <a:t>.</a:t>
            </a:r>
          </a:p>
        </p:txBody>
      </p:sp>
      <p:sp>
        <p:nvSpPr>
          <p:cNvPr id="3024" name="Why title"/>
          <p:cNvSpPr txBox="1"/>
          <p:nvPr/>
        </p:nvSpPr>
        <p:spPr>
          <a:xfrm>
            <a:off x="700000" y="4850000"/>
            <a:ext cx="6000000" cy="230000"/>
          </a:xfrm>
          <a:prstGeom prst="rect">
            <a:avLst/>
          </a:prstGeom>
          <a:noFill/>
        </p:spPr>
        <p:txBody>
          <a:bodyPr wrap="square" lIns="45720" tIns="0" rIns="45720" bIns="0" anchor="t"/>
          <a:lstStyle/>
          <a:p>
            <a:pPr algn="l">
              <a:spcAft>
                <a:spcPts val="0"/>
              </a:spcAft>
            </a:pPr>
            <a:endParaRPr lang="en-US" sz="1000" b="1" i="0" dirty="0">
              <a:solidFill>
                <a:srgbClr val="1C4FBF"/>
              </a:solidFill>
              <a:latin typeface="Aptos"/>
            </a:endParaRPr>
          </a:p>
        </p:txBody>
      </p:sp>
      <p:sp>
        <p:nvSpPr>
          <p:cNvPr id="3025" name="Why text"/>
          <p:cNvSpPr txBox="1"/>
          <p:nvPr/>
        </p:nvSpPr>
        <p:spPr>
          <a:xfrm>
            <a:off x="700000" y="5120000"/>
            <a:ext cx="6600000" cy="720000"/>
          </a:xfrm>
          <a:prstGeom prst="rect">
            <a:avLst/>
          </a:prstGeom>
          <a:noFill/>
        </p:spPr>
        <p:txBody>
          <a:bodyPr wrap="square" lIns="45720" tIns="0" rIns="45720" bIns="0" anchor="t"/>
          <a:lstStyle/>
          <a:p>
            <a:pPr algn="l">
              <a:spcAft>
                <a:spcPts val="0"/>
              </a:spcAft>
            </a:pPr>
            <a:endParaRPr lang="en-US" sz="1200" b="0" i="0" dirty="0">
              <a:solidFill>
                <a:srgbClr val="1F2A38"/>
              </a:solidFill>
              <a:latin typeface="Aptos"/>
            </a:endParaRPr>
          </a:p>
        </p:txBody>
      </p:sp>
      <p:sp>
        <p:nvSpPr>
          <p:cNvPr id="3037" name="Limit title"/>
          <p:cNvSpPr txBox="1"/>
          <p:nvPr/>
        </p:nvSpPr>
        <p:spPr>
          <a:xfrm>
            <a:off x="7850000" y="4230000"/>
            <a:ext cx="3626888" cy="230000"/>
          </a:xfrm>
          <a:prstGeom prst="rect">
            <a:avLst/>
          </a:prstGeom>
          <a:noFill/>
        </p:spPr>
        <p:txBody>
          <a:bodyPr wrap="square" lIns="45720" tIns="0" rIns="45720" bIns="0" anchor="t"/>
          <a:lstStyle/>
          <a:p>
            <a:pPr algn="l">
              <a:spcAft>
                <a:spcPts val="0"/>
              </a:spcAft>
            </a:pPr>
            <a:endParaRPr lang="en-US" sz="1000" b="1" i="0" dirty="0">
              <a:solidFill>
                <a:srgbClr val="B26A00"/>
              </a:solidFill>
              <a:latin typeface="Aptos"/>
            </a:endParaRPr>
          </a:p>
        </p:txBody>
      </p:sp>
      <p:sp>
        <p:nvSpPr>
          <p:cNvPr id="3038" name="Limit text"/>
          <p:cNvSpPr txBox="1"/>
          <p:nvPr/>
        </p:nvSpPr>
        <p:spPr>
          <a:xfrm>
            <a:off x="7850000" y="4500000"/>
            <a:ext cx="3626888" cy="800000"/>
          </a:xfrm>
          <a:prstGeom prst="rect">
            <a:avLst/>
          </a:prstGeom>
          <a:noFill/>
        </p:spPr>
        <p:txBody>
          <a:bodyPr wrap="square" lIns="45720" tIns="0" rIns="45720" bIns="0" anchor="t"/>
          <a:lstStyle/>
          <a:p>
            <a:pPr algn="l">
              <a:spcAft>
                <a:spcPts val="0"/>
              </a:spcAft>
            </a:pPr>
            <a:endParaRPr lang="en-US" sz="1200" b="0" i="0" dirty="0">
              <a:solidFill>
                <a:srgbClr val="1F2A38"/>
              </a:solidFill>
              <a:latin typeface="Aptos"/>
            </a:endParaRPr>
          </a:p>
        </p:txBody>
      </p:sp>
    </p:spTree>
    <p:extLst>
      <p:ext uri="{BB962C8B-B14F-4D97-AF65-F5344CB8AC3E}">
        <p14:creationId xmlns:p14="http://schemas.microsoft.com/office/powerpoint/2010/main" val="726927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698480" cy="502920"/>
          </a:xfrm>
          <a:prstGeom prst="rect">
            <a:avLst/>
          </a:prstGeom>
          <a:noFill/>
        </p:spPr>
        <p:txBody>
          <a:bodyPr wrap="square" lIns="45720" rIns="45720" anchor="t">
            <a:spAutoFit/>
          </a:bodyPr>
          <a:lstStyle/>
          <a:p>
            <a:pPr algn="l">
              <a:spcAft>
                <a:spcPts val="0"/>
              </a:spcAft>
            </a:pPr>
            <a:r>
              <a:rPr sz="2600" b="1" i="0">
                <a:solidFill>
                  <a:srgbClr val="FFFFFF"/>
                </a:solidFill>
                <a:latin typeface="Aptos"/>
              </a:rPr>
              <a:t>Interactive Power BI Dashboard</a:t>
            </a:r>
          </a:p>
        </p:txBody>
      </p:sp>
      <p:sp>
        <p:nvSpPr>
          <p:cNvPr id="4" name="Rectangle 3"/>
          <p:cNvSpPr/>
          <p:nvPr/>
        </p:nvSpPr>
        <p:spPr>
          <a:xfrm>
            <a:off x="530352" y="850392"/>
            <a:ext cx="713232" cy="50292"/>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44200" y="6528816"/>
            <a:ext cx="914400" cy="164592"/>
          </a:xfrm>
          <a:prstGeom prst="rect">
            <a:avLst/>
          </a:prstGeom>
          <a:noFill/>
        </p:spPr>
        <p:txBody>
          <a:bodyPr wrap="square" lIns="45720" rIns="45720" anchor="t">
            <a:spAutoFit/>
          </a:bodyPr>
          <a:lstStyle/>
          <a:p>
            <a:pPr algn="r">
              <a:spcAft>
                <a:spcPts val="0"/>
              </a:spcAft>
            </a:pPr>
            <a:r>
              <a:rPr sz="900" b="0" i="0">
                <a:solidFill>
                  <a:srgbClr val="B0C2D8"/>
                </a:solidFill>
                <a:latin typeface="Aptos"/>
              </a:rPr>
              <a:t>06  /  09</a:t>
            </a:r>
          </a:p>
        </p:txBody>
      </p:sp>
      <p:sp>
        <p:nvSpPr>
          <p:cNvPr id="12" name="Oval 11"/>
          <p:cNvSpPr/>
          <p:nvPr/>
        </p:nvSpPr>
        <p:spPr>
          <a:xfrm>
            <a:off x="8961120" y="1993392"/>
            <a:ext cx="329184" cy="329184"/>
          </a:xfrm>
          <a:prstGeom prst="ellipse">
            <a:avLst/>
          </a:prstGeom>
          <a:solidFill>
            <a:srgbClr val="11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61120" y="2075688"/>
            <a:ext cx="329184" cy="146304"/>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01</a:t>
            </a:r>
          </a:p>
        </p:txBody>
      </p:sp>
      <p:sp>
        <p:nvSpPr>
          <p:cNvPr id="15" name="Oval 14"/>
          <p:cNvSpPr/>
          <p:nvPr/>
        </p:nvSpPr>
        <p:spPr>
          <a:xfrm>
            <a:off x="8961120" y="2660904"/>
            <a:ext cx="329184" cy="329184"/>
          </a:xfrm>
          <a:prstGeom prst="ellipse">
            <a:avLst/>
          </a:prstGeom>
          <a:solidFill>
            <a:srgbClr val="11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0" y="2743200"/>
            <a:ext cx="329184" cy="146304"/>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02</a:t>
            </a:r>
          </a:p>
        </p:txBody>
      </p:sp>
      <p:sp>
        <p:nvSpPr>
          <p:cNvPr id="18" name="Oval 17"/>
          <p:cNvSpPr/>
          <p:nvPr/>
        </p:nvSpPr>
        <p:spPr>
          <a:xfrm>
            <a:off x="8961120" y="3328416"/>
            <a:ext cx="329184" cy="329184"/>
          </a:xfrm>
          <a:prstGeom prst="ellipse">
            <a:avLst/>
          </a:prstGeom>
          <a:solidFill>
            <a:srgbClr val="11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0" y="3410712"/>
            <a:ext cx="329184" cy="146304"/>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03</a:t>
            </a:r>
          </a:p>
        </p:txBody>
      </p:sp>
      <p:sp>
        <p:nvSpPr>
          <p:cNvPr id="21" name="Oval 20"/>
          <p:cNvSpPr/>
          <p:nvPr/>
        </p:nvSpPr>
        <p:spPr>
          <a:xfrm>
            <a:off x="8961120" y="3995928"/>
            <a:ext cx="329184" cy="329184"/>
          </a:xfrm>
          <a:prstGeom prst="ellipse">
            <a:avLst/>
          </a:prstGeom>
          <a:solidFill>
            <a:srgbClr val="11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61120" y="4078224"/>
            <a:ext cx="329184" cy="146304"/>
          </a:xfrm>
          <a:prstGeom prst="rect">
            <a:avLst/>
          </a:prstGeom>
          <a:noFill/>
        </p:spPr>
        <p:txBody>
          <a:bodyPr wrap="square" lIns="0" tIns="0" rIns="0" bIns="0" anchor="t">
            <a:spAutoFit/>
          </a:bodyPr>
          <a:lstStyle/>
          <a:p>
            <a:pPr algn="ctr">
              <a:spcAft>
                <a:spcPts val="0"/>
              </a:spcAft>
            </a:pPr>
            <a:r>
              <a:rPr sz="800" b="1" i="0">
                <a:solidFill>
                  <a:srgbClr val="FFFFFF"/>
                </a:solidFill>
                <a:latin typeface="Aptos"/>
              </a:rPr>
              <a:t>04</a:t>
            </a:r>
          </a:p>
        </p:txBody>
      </p:sp>
      <p:sp>
        <p:nvSpPr>
          <p:cNvPr id="26" name="TextBox 25"/>
          <p:cNvSpPr txBox="1"/>
          <p:nvPr/>
        </p:nvSpPr>
        <p:spPr>
          <a:xfrm>
            <a:off x="9079992" y="5276088"/>
            <a:ext cx="2148840" cy="438912"/>
          </a:xfrm>
          <a:prstGeom prst="rect">
            <a:avLst/>
          </a:prstGeom>
          <a:noFill/>
        </p:spPr>
        <p:txBody>
          <a:bodyPr wrap="square" lIns="45720" rIns="45720" anchor="t">
            <a:spAutoFit/>
          </a:bodyPr>
          <a:lstStyle/>
          <a:p>
            <a:pPr algn="l">
              <a:spcAft>
                <a:spcPts val="0"/>
              </a:spcAft>
            </a:pPr>
            <a:r>
              <a:rPr sz="1000" b="0" i="0">
                <a:solidFill>
                  <a:srgbClr val="071C39"/>
                </a:solidFill>
                <a:latin typeface="Aptos"/>
              </a:rPr>
              <a:t>Slicer = All: 500 employees, 13.9 hrs, 215 pending.</a:t>
            </a:r>
          </a:p>
        </p:txBody>
      </p:sp>
      <p:pic>
        <p:nvPicPr>
          <p:cNvPr id="3014" name="Dashboard Screenshot" descr="Power BI screenshot of the Banking HR Mandatory Training Dashboard showing KPI cards, a training priority donut, completed vs pending counts and average training hours by department"/>
          <p:cNvPicPr>
            <a:picLocks noChangeAspect="1"/>
          </p:cNvPicPr>
          <p:nvPr/>
        </p:nvPicPr>
        <p:blipFill>
          <a:blip r:embed="rId3"/>
          <a:srcRect t="1500"/>
          <a:stretch>
            <a:fillRect/>
          </a:stretch>
        </p:blipFill>
        <p:spPr>
          <a:xfrm>
            <a:off x="681944" y="1027404"/>
            <a:ext cx="10698480" cy="54510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698480" cy="502920"/>
          </a:xfrm>
          <a:prstGeom prst="rect">
            <a:avLst/>
          </a:prstGeom>
          <a:noFill/>
        </p:spPr>
        <p:txBody>
          <a:bodyPr wrap="square" lIns="45720" rIns="45720" anchor="t">
            <a:spAutoFit/>
          </a:bodyPr>
          <a:lstStyle/>
          <a:p>
            <a:pPr algn="l">
              <a:spcAft>
                <a:spcPts val="0"/>
              </a:spcAft>
            </a:pPr>
            <a:r>
              <a:rPr sz="2600" b="1" i="0">
                <a:solidFill>
                  <a:srgbClr val="FFFFFF"/>
                </a:solidFill>
                <a:latin typeface="Aptos"/>
              </a:rPr>
              <a:t>ML Model: Training Lapse and Skill-Gap Prediction</a:t>
            </a:r>
          </a:p>
        </p:txBody>
      </p:sp>
      <p:sp>
        <p:nvSpPr>
          <p:cNvPr id="4" name="Rectangle 3"/>
          <p:cNvSpPr/>
          <p:nvPr/>
        </p:nvSpPr>
        <p:spPr>
          <a:xfrm>
            <a:off x="530352" y="850392"/>
            <a:ext cx="713232" cy="50292"/>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0" y="310896"/>
            <a:ext cx="2011680" cy="228600"/>
          </a:xfrm>
          <a:prstGeom prst="rect">
            <a:avLst/>
          </a:prstGeom>
          <a:noFill/>
        </p:spPr>
        <p:txBody>
          <a:bodyPr wrap="square" lIns="45720" rIns="45720" anchor="t">
            <a:spAutoFit/>
          </a:bodyPr>
          <a:lstStyle/>
          <a:p>
            <a:pPr algn="r">
              <a:spcAft>
                <a:spcPts val="0"/>
              </a:spcAft>
            </a:pPr>
            <a:r>
              <a:rPr sz="900" b="1" i="0">
                <a:solidFill>
                  <a:srgbClr val="A6CDFF"/>
                </a:solidFill>
                <a:latin typeface="Aptos"/>
              </a:rPr>
              <a:t>ML INSIGHT</a:t>
            </a:r>
          </a:p>
        </p:txBody>
      </p:sp>
      <p:sp>
        <p:nvSpPr>
          <p:cNvPr id="6" name="TextBox 5"/>
          <p:cNvSpPr txBox="1"/>
          <p:nvPr/>
        </p:nvSpPr>
        <p:spPr>
          <a:xfrm>
            <a:off x="10744200" y="6528816"/>
            <a:ext cx="914400" cy="230832"/>
          </a:xfrm>
          <a:prstGeom prst="rect">
            <a:avLst/>
          </a:prstGeom>
          <a:noFill/>
        </p:spPr>
        <p:txBody>
          <a:bodyPr wrap="square" lIns="45720" rIns="45720" anchor="t">
            <a:spAutoFit/>
          </a:bodyPr>
          <a:lstStyle/>
          <a:p>
            <a:pPr algn="r">
              <a:spcAft>
                <a:spcPts val="0"/>
              </a:spcAft>
            </a:pPr>
            <a:r>
              <a:rPr sz="900" b="0" i="0" dirty="0">
                <a:solidFill>
                  <a:srgbClr val="B0C2D8"/>
                </a:solidFill>
                <a:latin typeface="Aptos"/>
              </a:rPr>
              <a:t>0</a:t>
            </a:r>
            <a:r>
              <a:rPr lang="en-US" sz="900" b="0" i="0" dirty="0">
                <a:solidFill>
                  <a:srgbClr val="B0C2D8"/>
                </a:solidFill>
                <a:latin typeface="Aptos"/>
              </a:rPr>
              <a:t>8</a:t>
            </a:r>
            <a:r>
              <a:rPr sz="900" b="0" i="0" dirty="0">
                <a:solidFill>
                  <a:srgbClr val="B0C2D8"/>
                </a:solidFill>
                <a:latin typeface="Aptos"/>
              </a:rPr>
              <a:t>  /  09</a:t>
            </a:r>
          </a:p>
        </p:txBody>
      </p:sp>
      <p:sp>
        <p:nvSpPr>
          <p:cNvPr id="8" name="TextBox 7"/>
          <p:cNvSpPr txBox="1"/>
          <p:nvPr/>
        </p:nvSpPr>
        <p:spPr>
          <a:xfrm>
            <a:off x="566928" y="1024128"/>
            <a:ext cx="11000000" cy="384048"/>
          </a:xfrm>
          <a:prstGeom prst="rect">
            <a:avLst/>
          </a:prstGeom>
          <a:noFill/>
        </p:spPr>
        <p:txBody>
          <a:bodyPr wrap="square" lIns="45720" rIns="45720" anchor="t">
            <a:spAutoFit/>
          </a:bodyPr>
          <a:lstStyle/>
          <a:p>
            <a:pPr algn="l">
              <a:spcAft>
                <a:spcPts val="0"/>
              </a:spcAft>
            </a:pPr>
            <a:r>
              <a:rPr sz="1400" b="0">
                <a:solidFill>
                  <a:srgbClr val="D5E2F2"/>
                </a:solidFill>
                <a:latin typeface="Aptos"/>
              </a:rPr>
              <a:t>A machine-learning model was applied to the dashboard fields (department, training status, hours, priority) to predict where each department’s training is lapsing and which skill sets are at risk.</a:t>
            </a:r>
          </a:p>
        </p:txBody>
      </p:sp>
      <p:sp>
        <p:nvSpPr>
          <p:cNvPr id="3015" name="Table card"/>
          <p:cNvSpPr/>
          <p:nvPr/>
        </p:nvSpPr>
        <p:spPr>
          <a:xfrm>
            <a:off x="566928" y="1640000"/>
            <a:ext cx="11109960" cy="4300000"/>
          </a:xfrm>
          <a:prstGeom prst="roundRect">
            <a:avLst>
              <a:gd name="adj" fmla="val 3500"/>
            </a:avLst>
          </a:prstGeom>
          <a:solidFill>
            <a:srgbClr val="FFFFFF"/>
          </a:solidFill>
          <a:ln w="10160">
            <a:solidFill>
              <a:srgbClr val="C9D7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16" name="Table header"/>
          <p:cNvSpPr/>
          <p:nvPr/>
        </p:nvSpPr>
        <p:spPr>
          <a:xfrm>
            <a:off x="650000" y="1740000"/>
            <a:ext cx="10943960" cy="330000"/>
          </a:xfrm>
          <a:prstGeom prst="rect">
            <a:avLst/>
          </a:prstGeom>
          <a:solidFill>
            <a:srgbClr val="071C39"/>
          </a:solidFill>
          <a:ln>
            <a:noFill/>
          </a:ln>
          <a:effectLst/>
        </p:spPr>
        <p:txBody>
          <a:bodyPr rtlCol="0" anchor="ctr"/>
          <a:lstStyle/>
          <a:p>
            <a:pPr algn="ctr"/>
            <a:endParaRPr lang="en-US"/>
          </a:p>
        </p:txBody>
      </p:sp>
      <p:sp>
        <p:nvSpPr>
          <p:cNvPr id="3017" name="Header Department"/>
          <p:cNvSpPr txBox="1"/>
          <p:nvPr/>
        </p:nvSpPr>
        <p:spPr>
          <a:xfrm>
            <a:off x="700000" y="1740000"/>
            <a:ext cx="1850000" cy="330000"/>
          </a:xfrm>
          <a:prstGeom prst="rect">
            <a:avLst/>
          </a:prstGeom>
          <a:noFill/>
        </p:spPr>
        <p:txBody>
          <a:bodyPr wrap="square" lIns="91440" tIns="0" rIns="91440" bIns="0" anchor="ctr"/>
          <a:lstStyle/>
          <a:p>
            <a:pPr algn="l">
              <a:spcAft>
                <a:spcPts val="0"/>
              </a:spcAft>
            </a:pPr>
            <a:r>
              <a:rPr lang="en-US" sz="1000" b="1" i="0" dirty="0">
                <a:solidFill>
                  <a:srgbClr val="FFFFFF"/>
                </a:solidFill>
                <a:latin typeface="Aptos"/>
              </a:rPr>
              <a:t>DEPARTMENT</a:t>
            </a:r>
          </a:p>
        </p:txBody>
      </p:sp>
      <p:sp>
        <p:nvSpPr>
          <p:cNvPr id="3018" name="Header Pending"/>
          <p:cNvSpPr txBox="1"/>
          <p:nvPr/>
        </p:nvSpPr>
        <p:spPr>
          <a:xfrm>
            <a:off x="2550000" y="1740000"/>
            <a:ext cx="850000" cy="330000"/>
          </a:xfrm>
          <a:prstGeom prst="rect">
            <a:avLst/>
          </a:prstGeom>
          <a:noFill/>
        </p:spPr>
        <p:txBody>
          <a:bodyPr wrap="square" lIns="91440" tIns="0" rIns="91440" bIns="0" anchor="ctr"/>
          <a:lstStyle/>
          <a:p>
            <a:pPr algn="l">
              <a:spcAft>
                <a:spcPts val="0"/>
              </a:spcAft>
            </a:pPr>
            <a:r>
              <a:rPr lang="en-US" sz="1000" b="1" i="0" dirty="0">
                <a:solidFill>
                  <a:srgbClr val="FFFFFF"/>
                </a:solidFill>
                <a:latin typeface="Aptos"/>
              </a:rPr>
              <a:t>PENDING</a:t>
            </a:r>
          </a:p>
        </p:txBody>
      </p:sp>
      <p:sp>
        <p:nvSpPr>
          <p:cNvPr id="3019" name="Header Avg hrs"/>
          <p:cNvSpPr txBox="1"/>
          <p:nvPr/>
        </p:nvSpPr>
        <p:spPr>
          <a:xfrm>
            <a:off x="3400000" y="1740000"/>
            <a:ext cx="800000" cy="330000"/>
          </a:xfrm>
          <a:prstGeom prst="rect">
            <a:avLst/>
          </a:prstGeom>
          <a:noFill/>
        </p:spPr>
        <p:txBody>
          <a:bodyPr wrap="square" lIns="91440" tIns="0" rIns="91440" bIns="0" anchor="ctr"/>
          <a:lstStyle/>
          <a:p>
            <a:pPr algn="l">
              <a:spcAft>
                <a:spcPts val="0"/>
              </a:spcAft>
            </a:pPr>
            <a:r>
              <a:rPr lang="en-US" sz="1000" b="1" i="0" dirty="0">
                <a:solidFill>
                  <a:srgbClr val="FFFFFF"/>
                </a:solidFill>
                <a:latin typeface="Aptos"/>
              </a:rPr>
              <a:t>HOURS</a:t>
            </a:r>
          </a:p>
        </p:txBody>
      </p:sp>
      <p:sp>
        <p:nvSpPr>
          <p:cNvPr id="3020" name="Header Lapse risk"/>
          <p:cNvSpPr txBox="1"/>
          <p:nvPr/>
        </p:nvSpPr>
        <p:spPr>
          <a:xfrm>
            <a:off x="4200000" y="1740000"/>
            <a:ext cx="1050000" cy="330000"/>
          </a:xfrm>
          <a:prstGeom prst="rect">
            <a:avLst/>
          </a:prstGeom>
          <a:noFill/>
        </p:spPr>
        <p:txBody>
          <a:bodyPr wrap="square" lIns="91440" tIns="0" rIns="91440" bIns="0" anchor="ctr"/>
          <a:lstStyle/>
          <a:p>
            <a:pPr algn="l">
              <a:spcAft>
                <a:spcPts val="0"/>
              </a:spcAft>
            </a:pPr>
            <a:r>
              <a:rPr lang="en-US" sz="1000" b="1" i="0" dirty="0">
                <a:solidFill>
                  <a:srgbClr val="FFFFFF"/>
                </a:solidFill>
                <a:latin typeface="Aptos"/>
              </a:rPr>
              <a:t>LAPSE RISK</a:t>
            </a:r>
          </a:p>
        </p:txBody>
      </p:sp>
      <p:sp>
        <p:nvSpPr>
          <p:cNvPr id="3021" name="Header Primary lapse area"/>
          <p:cNvSpPr txBox="1"/>
          <p:nvPr/>
        </p:nvSpPr>
        <p:spPr>
          <a:xfrm>
            <a:off x="5250000" y="1740000"/>
            <a:ext cx="2900000" cy="330000"/>
          </a:xfrm>
          <a:prstGeom prst="rect">
            <a:avLst/>
          </a:prstGeom>
          <a:noFill/>
        </p:spPr>
        <p:txBody>
          <a:bodyPr wrap="square" lIns="91440" tIns="0" rIns="91440" bIns="0" anchor="ctr"/>
          <a:lstStyle/>
          <a:p>
            <a:pPr algn="l">
              <a:spcAft>
                <a:spcPts val="0"/>
              </a:spcAft>
            </a:pPr>
            <a:r>
              <a:rPr lang="en-US" sz="1000" b="1" i="0" dirty="0">
                <a:solidFill>
                  <a:srgbClr val="FFFFFF"/>
                </a:solidFill>
                <a:latin typeface="Aptos"/>
              </a:rPr>
              <a:t>PRIMARY LAPSE AREA</a:t>
            </a:r>
          </a:p>
        </p:txBody>
      </p:sp>
      <p:sp>
        <p:nvSpPr>
          <p:cNvPr id="3022" name="Header Skill sets at risk"/>
          <p:cNvSpPr txBox="1"/>
          <p:nvPr/>
        </p:nvSpPr>
        <p:spPr>
          <a:xfrm>
            <a:off x="8150000" y="1740000"/>
            <a:ext cx="3400000" cy="330000"/>
          </a:xfrm>
          <a:prstGeom prst="rect">
            <a:avLst/>
          </a:prstGeom>
          <a:noFill/>
        </p:spPr>
        <p:txBody>
          <a:bodyPr wrap="square" lIns="91440" tIns="0" rIns="91440" bIns="0" anchor="ctr"/>
          <a:lstStyle/>
          <a:p>
            <a:pPr algn="l">
              <a:spcAft>
                <a:spcPts val="0"/>
              </a:spcAft>
            </a:pPr>
            <a:r>
              <a:rPr lang="en-US" sz="1000" b="1" i="0" dirty="0">
                <a:solidFill>
                  <a:srgbClr val="FFFFFF"/>
                </a:solidFill>
                <a:latin typeface="Aptos"/>
              </a:rPr>
              <a:t>SKILL SETS AT RISK</a:t>
            </a:r>
          </a:p>
        </p:txBody>
      </p:sp>
      <p:sp>
        <p:nvSpPr>
          <p:cNvPr id="3023" name="Cell 1-1"/>
          <p:cNvSpPr txBox="1"/>
          <p:nvPr/>
        </p:nvSpPr>
        <p:spPr>
          <a:xfrm>
            <a:off x="700000" y="2070000"/>
            <a:ext cx="1850000" cy="455000"/>
          </a:xfrm>
          <a:prstGeom prst="rect">
            <a:avLst/>
          </a:prstGeom>
          <a:noFill/>
        </p:spPr>
        <p:txBody>
          <a:bodyPr wrap="square" lIns="91440" tIns="0" rIns="91440" bIns="0" anchor="ctr"/>
          <a:lstStyle/>
          <a:p>
            <a:pPr algn="l">
              <a:spcAft>
                <a:spcPts val="0"/>
              </a:spcAft>
            </a:pPr>
            <a:r>
              <a:rPr lang="en-US" sz="1100" b="1" i="0" dirty="0">
                <a:solidFill>
                  <a:srgbClr val="071C39"/>
                </a:solidFill>
                <a:latin typeface="Aptos"/>
              </a:rPr>
              <a:t>IT &amp; Digital Banking</a:t>
            </a:r>
          </a:p>
        </p:txBody>
      </p:sp>
      <p:sp>
        <p:nvSpPr>
          <p:cNvPr id="3024" name="Cell 1-2"/>
          <p:cNvSpPr txBox="1"/>
          <p:nvPr/>
        </p:nvSpPr>
        <p:spPr>
          <a:xfrm>
            <a:off x="2550000" y="2070000"/>
            <a:ext cx="850000" cy="455000"/>
          </a:xfrm>
          <a:prstGeom prst="rect">
            <a:avLst/>
          </a:prstGeom>
          <a:noFill/>
        </p:spPr>
        <p:txBody>
          <a:bodyPr wrap="square" lIns="91440" tIns="0" rIns="91440" bIns="0" anchor="ctr"/>
          <a:lstStyle/>
          <a:p>
            <a:pPr algn="l">
              <a:spcAft>
                <a:spcPts val="0"/>
              </a:spcAft>
            </a:pPr>
            <a:r>
              <a:rPr lang="en-US" sz="1100" b="1" i="0" dirty="0">
                <a:solidFill>
                  <a:srgbClr val="1F2A38"/>
                </a:solidFill>
                <a:latin typeface="Aptos"/>
              </a:rPr>
              <a:t>64.2%</a:t>
            </a:r>
          </a:p>
        </p:txBody>
      </p:sp>
      <p:sp>
        <p:nvSpPr>
          <p:cNvPr id="3025" name="Cell 1-3"/>
          <p:cNvSpPr txBox="1"/>
          <p:nvPr/>
        </p:nvSpPr>
        <p:spPr>
          <a:xfrm>
            <a:off x="3400000" y="2070000"/>
            <a:ext cx="8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14.3</a:t>
            </a:r>
          </a:p>
        </p:txBody>
      </p:sp>
      <p:sp>
        <p:nvSpPr>
          <p:cNvPr id="3026" name="Risk pill 1"/>
          <p:cNvSpPr/>
          <p:nvPr/>
        </p:nvSpPr>
        <p:spPr>
          <a:xfrm>
            <a:off x="4291440" y="2172500"/>
            <a:ext cx="820000" cy="250000"/>
          </a:xfrm>
          <a:prstGeom prst="roundRect">
            <a:avLst>
              <a:gd name="adj" fmla="val 50000"/>
            </a:avLst>
          </a:prstGeom>
          <a:solidFill>
            <a:srgbClr val="D64545"/>
          </a:solidFill>
          <a:ln>
            <a:noFill/>
          </a:ln>
          <a:effectLst/>
        </p:spPr>
        <p:txBody>
          <a:bodyPr rtlCol="0" anchor="ctr"/>
          <a:lstStyle/>
          <a:p>
            <a:pPr algn="ctr"/>
            <a:endParaRPr lang="en-US"/>
          </a:p>
        </p:txBody>
      </p:sp>
      <p:sp>
        <p:nvSpPr>
          <p:cNvPr id="3027" name="Risk text 1"/>
          <p:cNvSpPr txBox="1"/>
          <p:nvPr/>
        </p:nvSpPr>
        <p:spPr>
          <a:xfrm>
            <a:off x="4291440" y="2172500"/>
            <a:ext cx="820000" cy="250000"/>
          </a:xfrm>
          <a:prstGeom prst="rect">
            <a:avLst/>
          </a:prstGeom>
          <a:noFill/>
        </p:spPr>
        <p:txBody>
          <a:bodyPr wrap="square" lIns="0" tIns="0" rIns="0" bIns="0" anchor="ctr"/>
          <a:lstStyle/>
          <a:p>
            <a:pPr algn="ctr">
              <a:spcAft>
                <a:spcPts val="0"/>
              </a:spcAft>
            </a:pPr>
            <a:r>
              <a:rPr lang="en-US" sz="1000" b="1" i="0" dirty="0">
                <a:solidFill>
                  <a:srgbClr val="FFFFFF"/>
                </a:solidFill>
                <a:latin typeface="Aptos"/>
              </a:rPr>
              <a:t>High</a:t>
            </a:r>
          </a:p>
        </p:txBody>
      </p:sp>
      <p:sp>
        <p:nvSpPr>
          <p:cNvPr id="3028" name="Cell 1-5"/>
          <p:cNvSpPr txBox="1"/>
          <p:nvPr/>
        </p:nvSpPr>
        <p:spPr>
          <a:xfrm>
            <a:off x="5250000" y="2070000"/>
            <a:ext cx="29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43 of 67 pending: highest pending share</a:t>
            </a:r>
          </a:p>
        </p:txBody>
      </p:sp>
      <p:sp>
        <p:nvSpPr>
          <p:cNvPr id="3029" name="Cell 1-6"/>
          <p:cNvSpPr txBox="1"/>
          <p:nvPr/>
        </p:nvSpPr>
        <p:spPr>
          <a:xfrm>
            <a:off x="8150000" y="2070000"/>
            <a:ext cx="34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Cyber security and data privacy; digital fraud awareness</a:t>
            </a:r>
          </a:p>
        </p:txBody>
      </p:sp>
      <p:sp>
        <p:nvSpPr>
          <p:cNvPr id="3030" name="Row band 2"/>
          <p:cNvSpPr/>
          <p:nvPr/>
        </p:nvSpPr>
        <p:spPr>
          <a:xfrm>
            <a:off x="650000" y="2525000"/>
            <a:ext cx="10943960" cy="455000"/>
          </a:xfrm>
          <a:prstGeom prst="rect">
            <a:avLst/>
          </a:prstGeom>
          <a:solidFill>
            <a:srgbClr val="F1F6FC"/>
          </a:solidFill>
          <a:ln>
            <a:noFill/>
          </a:ln>
          <a:effectLst/>
        </p:spPr>
        <p:txBody>
          <a:bodyPr rtlCol="0" anchor="ctr"/>
          <a:lstStyle/>
          <a:p>
            <a:pPr algn="ctr"/>
            <a:endParaRPr lang="en-US"/>
          </a:p>
        </p:txBody>
      </p:sp>
      <p:sp>
        <p:nvSpPr>
          <p:cNvPr id="3031" name="Cell 2-1"/>
          <p:cNvSpPr txBox="1"/>
          <p:nvPr/>
        </p:nvSpPr>
        <p:spPr>
          <a:xfrm>
            <a:off x="700000" y="2525000"/>
            <a:ext cx="1850000" cy="455000"/>
          </a:xfrm>
          <a:prstGeom prst="rect">
            <a:avLst/>
          </a:prstGeom>
          <a:noFill/>
        </p:spPr>
        <p:txBody>
          <a:bodyPr wrap="square" lIns="91440" tIns="0" rIns="91440" bIns="0" anchor="ctr"/>
          <a:lstStyle/>
          <a:p>
            <a:pPr algn="l">
              <a:spcAft>
                <a:spcPts val="0"/>
              </a:spcAft>
            </a:pPr>
            <a:r>
              <a:rPr lang="en-US" sz="1100" b="1" i="0" dirty="0">
                <a:solidFill>
                  <a:srgbClr val="071C39"/>
                </a:solidFill>
                <a:latin typeface="Aptos"/>
              </a:rPr>
              <a:t>Risk Management</a:t>
            </a:r>
          </a:p>
        </p:txBody>
      </p:sp>
      <p:sp>
        <p:nvSpPr>
          <p:cNvPr id="3032" name="Cell 2-2"/>
          <p:cNvSpPr txBox="1"/>
          <p:nvPr/>
        </p:nvSpPr>
        <p:spPr>
          <a:xfrm>
            <a:off x="2550000" y="2525000"/>
            <a:ext cx="850000" cy="455000"/>
          </a:xfrm>
          <a:prstGeom prst="rect">
            <a:avLst/>
          </a:prstGeom>
          <a:noFill/>
        </p:spPr>
        <p:txBody>
          <a:bodyPr wrap="square" lIns="91440" tIns="0" rIns="91440" bIns="0" anchor="ctr"/>
          <a:lstStyle/>
          <a:p>
            <a:pPr algn="l">
              <a:spcAft>
                <a:spcPts val="0"/>
              </a:spcAft>
            </a:pPr>
            <a:r>
              <a:rPr lang="en-US" sz="1100" b="1" i="0" dirty="0">
                <a:solidFill>
                  <a:srgbClr val="1F2A38"/>
                </a:solidFill>
                <a:latin typeface="Aptos"/>
              </a:rPr>
              <a:t>62.1%</a:t>
            </a:r>
          </a:p>
        </p:txBody>
      </p:sp>
      <p:sp>
        <p:nvSpPr>
          <p:cNvPr id="3033" name="Cell 2-3"/>
          <p:cNvSpPr txBox="1"/>
          <p:nvPr/>
        </p:nvSpPr>
        <p:spPr>
          <a:xfrm>
            <a:off x="3400000" y="2525000"/>
            <a:ext cx="8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14.3</a:t>
            </a:r>
          </a:p>
        </p:txBody>
      </p:sp>
      <p:sp>
        <p:nvSpPr>
          <p:cNvPr id="3034" name="Risk pill 2"/>
          <p:cNvSpPr/>
          <p:nvPr/>
        </p:nvSpPr>
        <p:spPr>
          <a:xfrm>
            <a:off x="4291440" y="2627500"/>
            <a:ext cx="820000" cy="250000"/>
          </a:xfrm>
          <a:prstGeom prst="roundRect">
            <a:avLst>
              <a:gd name="adj" fmla="val 50000"/>
            </a:avLst>
          </a:prstGeom>
          <a:solidFill>
            <a:srgbClr val="D64545"/>
          </a:solidFill>
          <a:ln>
            <a:noFill/>
          </a:ln>
          <a:effectLst/>
        </p:spPr>
        <p:txBody>
          <a:bodyPr rtlCol="0" anchor="ctr"/>
          <a:lstStyle/>
          <a:p>
            <a:pPr algn="ctr"/>
            <a:endParaRPr lang="en-US"/>
          </a:p>
        </p:txBody>
      </p:sp>
      <p:sp>
        <p:nvSpPr>
          <p:cNvPr id="3035" name="Risk text 2"/>
          <p:cNvSpPr txBox="1"/>
          <p:nvPr/>
        </p:nvSpPr>
        <p:spPr>
          <a:xfrm>
            <a:off x="4291440" y="2627500"/>
            <a:ext cx="820000" cy="250000"/>
          </a:xfrm>
          <a:prstGeom prst="rect">
            <a:avLst/>
          </a:prstGeom>
          <a:noFill/>
        </p:spPr>
        <p:txBody>
          <a:bodyPr wrap="square" lIns="0" tIns="0" rIns="0" bIns="0" anchor="ctr"/>
          <a:lstStyle/>
          <a:p>
            <a:pPr algn="ctr">
              <a:spcAft>
                <a:spcPts val="0"/>
              </a:spcAft>
            </a:pPr>
            <a:r>
              <a:rPr lang="en-US" sz="1000" b="1" i="0" dirty="0">
                <a:solidFill>
                  <a:srgbClr val="FFFFFF"/>
                </a:solidFill>
                <a:latin typeface="Aptos"/>
              </a:rPr>
              <a:t>High</a:t>
            </a:r>
          </a:p>
        </p:txBody>
      </p:sp>
      <p:sp>
        <p:nvSpPr>
          <p:cNvPr id="3036" name="Cell 2-5"/>
          <p:cNvSpPr txBox="1"/>
          <p:nvPr/>
        </p:nvSpPr>
        <p:spPr>
          <a:xfrm>
            <a:off x="5250000" y="2525000"/>
            <a:ext cx="29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54 of 87 pending: largest backlog</a:t>
            </a:r>
          </a:p>
        </p:txBody>
      </p:sp>
      <p:sp>
        <p:nvSpPr>
          <p:cNvPr id="3037" name="Cell 2-6"/>
          <p:cNvSpPr txBox="1"/>
          <p:nvPr/>
        </p:nvSpPr>
        <p:spPr>
          <a:xfrm>
            <a:off x="8150000" y="2525000"/>
            <a:ext cx="34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AML and KYC; operational risk; regulatory compliance</a:t>
            </a:r>
          </a:p>
        </p:txBody>
      </p:sp>
      <p:sp>
        <p:nvSpPr>
          <p:cNvPr id="3038" name="Cell 3-1"/>
          <p:cNvSpPr txBox="1"/>
          <p:nvPr/>
        </p:nvSpPr>
        <p:spPr>
          <a:xfrm>
            <a:off x="700000" y="2980000"/>
            <a:ext cx="1850000" cy="455000"/>
          </a:xfrm>
          <a:prstGeom prst="rect">
            <a:avLst/>
          </a:prstGeom>
          <a:noFill/>
        </p:spPr>
        <p:txBody>
          <a:bodyPr wrap="square" lIns="91440" tIns="0" rIns="91440" bIns="0" anchor="ctr"/>
          <a:lstStyle/>
          <a:p>
            <a:pPr algn="l">
              <a:spcAft>
                <a:spcPts val="0"/>
              </a:spcAft>
            </a:pPr>
            <a:r>
              <a:rPr lang="en-US" sz="1100" b="1" i="0" dirty="0">
                <a:solidFill>
                  <a:srgbClr val="071C39"/>
                </a:solidFill>
                <a:latin typeface="Aptos"/>
              </a:rPr>
              <a:t>Corporate Banking</a:t>
            </a:r>
          </a:p>
        </p:txBody>
      </p:sp>
      <p:sp>
        <p:nvSpPr>
          <p:cNvPr id="3039" name="Cell 3-2"/>
          <p:cNvSpPr txBox="1"/>
          <p:nvPr/>
        </p:nvSpPr>
        <p:spPr>
          <a:xfrm>
            <a:off x="2550000" y="2980000"/>
            <a:ext cx="850000" cy="455000"/>
          </a:xfrm>
          <a:prstGeom prst="rect">
            <a:avLst/>
          </a:prstGeom>
          <a:noFill/>
        </p:spPr>
        <p:txBody>
          <a:bodyPr wrap="square" lIns="91440" tIns="0" rIns="91440" bIns="0" anchor="ctr"/>
          <a:lstStyle/>
          <a:p>
            <a:pPr algn="l">
              <a:spcAft>
                <a:spcPts val="0"/>
              </a:spcAft>
            </a:pPr>
            <a:r>
              <a:rPr lang="en-US" sz="1100" b="1" i="0" dirty="0">
                <a:solidFill>
                  <a:srgbClr val="1F2A38"/>
                </a:solidFill>
                <a:latin typeface="Aptos"/>
              </a:rPr>
              <a:t>53.8%</a:t>
            </a:r>
          </a:p>
        </p:txBody>
      </p:sp>
      <p:sp>
        <p:nvSpPr>
          <p:cNvPr id="3040" name="Cell 3-3"/>
          <p:cNvSpPr txBox="1"/>
          <p:nvPr/>
        </p:nvSpPr>
        <p:spPr>
          <a:xfrm>
            <a:off x="3400000" y="2980000"/>
            <a:ext cx="8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14.3</a:t>
            </a:r>
          </a:p>
        </p:txBody>
      </p:sp>
      <p:sp>
        <p:nvSpPr>
          <p:cNvPr id="3041" name="Risk pill 3"/>
          <p:cNvSpPr/>
          <p:nvPr/>
        </p:nvSpPr>
        <p:spPr>
          <a:xfrm>
            <a:off x="4291440" y="3082500"/>
            <a:ext cx="820000" cy="250000"/>
          </a:xfrm>
          <a:prstGeom prst="roundRect">
            <a:avLst>
              <a:gd name="adj" fmla="val 50000"/>
            </a:avLst>
          </a:prstGeom>
          <a:solidFill>
            <a:srgbClr val="D64545"/>
          </a:solidFill>
          <a:ln>
            <a:noFill/>
          </a:ln>
          <a:effectLst/>
        </p:spPr>
        <p:txBody>
          <a:bodyPr rtlCol="0" anchor="ctr"/>
          <a:lstStyle/>
          <a:p>
            <a:pPr algn="ctr"/>
            <a:endParaRPr lang="en-US"/>
          </a:p>
        </p:txBody>
      </p:sp>
      <p:sp>
        <p:nvSpPr>
          <p:cNvPr id="3042" name="Risk text 3"/>
          <p:cNvSpPr txBox="1"/>
          <p:nvPr/>
        </p:nvSpPr>
        <p:spPr>
          <a:xfrm>
            <a:off x="4291440" y="3082500"/>
            <a:ext cx="820000" cy="250000"/>
          </a:xfrm>
          <a:prstGeom prst="rect">
            <a:avLst/>
          </a:prstGeom>
          <a:noFill/>
        </p:spPr>
        <p:txBody>
          <a:bodyPr wrap="square" lIns="0" tIns="0" rIns="0" bIns="0" anchor="ctr"/>
          <a:lstStyle/>
          <a:p>
            <a:pPr algn="ctr">
              <a:spcAft>
                <a:spcPts val="0"/>
              </a:spcAft>
            </a:pPr>
            <a:r>
              <a:rPr lang="en-US" sz="1000" b="1" i="0" dirty="0">
                <a:solidFill>
                  <a:srgbClr val="FFFFFF"/>
                </a:solidFill>
                <a:latin typeface="Aptos"/>
              </a:rPr>
              <a:t>High</a:t>
            </a:r>
          </a:p>
        </p:txBody>
      </p:sp>
      <p:sp>
        <p:nvSpPr>
          <p:cNvPr id="3043" name="Cell 3-5"/>
          <p:cNvSpPr txBox="1"/>
          <p:nvPr/>
        </p:nvSpPr>
        <p:spPr>
          <a:xfrm>
            <a:off x="5250000" y="2980000"/>
            <a:ext cx="29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35 of 65 pending</a:t>
            </a:r>
          </a:p>
        </p:txBody>
      </p:sp>
      <p:sp>
        <p:nvSpPr>
          <p:cNvPr id="3044" name="Cell 3-6"/>
          <p:cNvSpPr txBox="1"/>
          <p:nvPr/>
        </p:nvSpPr>
        <p:spPr>
          <a:xfrm>
            <a:off x="8150000" y="2980000"/>
            <a:ext cx="34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Credit due diligence; sanctions and AML; corporate KYC</a:t>
            </a:r>
          </a:p>
        </p:txBody>
      </p:sp>
      <p:sp>
        <p:nvSpPr>
          <p:cNvPr id="3045" name="Row band 4"/>
          <p:cNvSpPr/>
          <p:nvPr/>
        </p:nvSpPr>
        <p:spPr>
          <a:xfrm>
            <a:off x="650000" y="3435000"/>
            <a:ext cx="10943960" cy="455000"/>
          </a:xfrm>
          <a:prstGeom prst="rect">
            <a:avLst/>
          </a:prstGeom>
          <a:solidFill>
            <a:srgbClr val="F1F6FC"/>
          </a:solidFill>
          <a:ln>
            <a:noFill/>
          </a:ln>
          <a:effectLst/>
        </p:spPr>
        <p:txBody>
          <a:bodyPr rtlCol="0" anchor="ctr"/>
          <a:lstStyle/>
          <a:p>
            <a:pPr algn="ctr"/>
            <a:endParaRPr lang="en-US"/>
          </a:p>
        </p:txBody>
      </p:sp>
      <p:sp>
        <p:nvSpPr>
          <p:cNvPr id="3046" name="Cell 4-1"/>
          <p:cNvSpPr txBox="1"/>
          <p:nvPr/>
        </p:nvSpPr>
        <p:spPr>
          <a:xfrm>
            <a:off x="700000" y="3435000"/>
            <a:ext cx="1850000" cy="455000"/>
          </a:xfrm>
          <a:prstGeom prst="rect">
            <a:avLst/>
          </a:prstGeom>
          <a:noFill/>
        </p:spPr>
        <p:txBody>
          <a:bodyPr wrap="square" lIns="91440" tIns="0" rIns="91440" bIns="0" anchor="ctr"/>
          <a:lstStyle/>
          <a:p>
            <a:pPr algn="l">
              <a:spcAft>
                <a:spcPts val="0"/>
              </a:spcAft>
            </a:pPr>
            <a:r>
              <a:rPr lang="en-US" sz="1100" b="1" i="0" dirty="0">
                <a:solidFill>
                  <a:srgbClr val="071C39"/>
                </a:solidFill>
                <a:latin typeface="Aptos"/>
              </a:rPr>
              <a:t>Human Resources</a:t>
            </a:r>
          </a:p>
        </p:txBody>
      </p:sp>
      <p:sp>
        <p:nvSpPr>
          <p:cNvPr id="3047" name="Cell 4-2"/>
          <p:cNvSpPr txBox="1"/>
          <p:nvPr/>
        </p:nvSpPr>
        <p:spPr>
          <a:xfrm>
            <a:off x="2550000" y="3435000"/>
            <a:ext cx="850000" cy="455000"/>
          </a:xfrm>
          <a:prstGeom prst="rect">
            <a:avLst/>
          </a:prstGeom>
          <a:noFill/>
        </p:spPr>
        <p:txBody>
          <a:bodyPr wrap="square" lIns="91440" tIns="0" rIns="91440" bIns="0" anchor="ctr"/>
          <a:lstStyle/>
          <a:p>
            <a:pPr algn="l">
              <a:spcAft>
                <a:spcPts val="0"/>
              </a:spcAft>
            </a:pPr>
            <a:r>
              <a:rPr lang="en-US" sz="1100" b="1" i="0" dirty="0">
                <a:solidFill>
                  <a:srgbClr val="1F2A38"/>
                </a:solidFill>
                <a:latin typeface="Aptos"/>
              </a:rPr>
              <a:t>41.7%</a:t>
            </a:r>
          </a:p>
        </p:txBody>
      </p:sp>
      <p:sp>
        <p:nvSpPr>
          <p:cNvPr id="3048" name="Cell 4-3"/>
          <p:cNvSpPr txBox="1"/>
          <p:nvPr/>
        </p:nvSpPr>
        <p:spPr>
          <a:xfrm>
            <a:off x="3400000" y="3435000"/>
            <a:ext cx="8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15.9</a:t>
            </a:r>
          </a:p>
        </p:txBody>
      </p:sp>
      <p:sp>
        <p:nvSpPr>
          <p:cNvPr id="3049" name="Risk pill 4"/>
          <p:cNvSpPr/>
          <p:nvPr/>
        </p:nvSpPr>
        <p:spPr>
          <a:xfrm>
            <a:off x="4291440" y="3537500"/>
            <a:ext cx="820000" cy="250000"/>
          </a:xfrm>
          <a:prstGeom prst="roundRect">
            <a:avLst>
              <a:gd name="adj" fmla="val 50000"/>
            </a:avLst>
          </a:prstGeom>
          <a:solidFill>
            <a:srgbClr val="D98A1F"/>
          </a:solidFill>
          <a:ln>
            <a:noFill/>
          </a:ln>
          <a:effectLst/>
        </p:spPr>
        <p:txBody>
          <a:bodyPr rtlCol="0" anchor="ctr"/>
          <a:lstStyle/>
          <a:p>
            <a:pPr algn="ctr"/>
            <a:endParaRPr lang="en-US"/>
          </a:p>
        </p:txBody>
      </p:sp>
      <p:sp>
        <p:nvSpPr>
          <p:cNvPr id="3050" name="Risk text 4"/>
          <p:cNvSpPr txBox="1"/>
          <p:nvPr/>
        </p:nvSpPr>
        <p:spPr>
          <a:xfrm>
            <a:off x="4291440" y="3537500"/>
            <a:ext cx="820000" cy="250000"/>
          </a:xfrm>
          <a:prstGeom prst="rect">
            <a:avLst/>
          </a:prstGeom>
          <a:noFill/>
        </p:spPr>
        <p:txBody>
          <a:bodyPr wrap="square" lIns="0" tIns="0" rIns="0" bIns="0" anchor="ctr"/>
          <a:lstStyle/>
          <a:p>
            <a:pPr algn="ctr">
              <a:spcAft>
                <a:spcPts val="0"/>
              </a:spcAft>
            </a:pPr>
            <a:r>
              <a:rPr lang="en-US" sz="1000" b="1" i="0" dirty="0">
                <a:solidFill>
                  <a:srgbClr val="FFFFFF"/>
                </a:solidFill>
                <a:latin typeface="Aptos"/>
              </a:rPr>
              <a:t>Medium</a:t>
            </a:r>
          </a:p>
        </p:txBody>
      </p:sp>
      <p:sp>
        <p:nvSpPr>
          <p:cNvPr id="3051" name="Cell 4-5"/>
          <p:cNvSpPr txBox="1"/>
          <p:nvPr/>
        </p:nvSpPr>
        <p:spPr>
          <a:xfrm>
            <a:off x="5250000" y="3435000"/>
            <a:ext cx="29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10 of 24 pending despite highest hours</a:t>
            </a:r>
          </a:p>
        </p:txBody>
      </p:sp>
      <p:sp>
        <p:nvSpPr>
          <p:cNvPr id="3052" name="Cell 4-6"/>
          <p:cNvSpPr txBox="1"/>
          <p:nvPr/>
        </p:nvSpPr>
        <p:spPr>
          <a:xfrm>
            <a:off x="8150000" y="3435000"/>
            <a:ext cx="34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Code of conduct and ethics; employee data privacy</a:t>
            </a:r>
          </a:p>
        </p:txBody>
      </p:sp>
      <p:sp>
        <p:nvSpPr>
          <p:cNvPr id="3053" name="Cell 5-1"/>
          <p:cNvSpPr txBox="1"/>
          <p:nvPr/>
        </p:nvSpPr>
        <p:spPr>
          <a:xfrm>
            <a:off x="700000" y="3890000"/>
            <a:ext cx="1850000" cy="455000"/>
          </a:xfrm>
          <a:prstGeom prst="rect">
            <a:avLst/>
          </a:prstGeom>
          <a:noFill/>
        </p:spPr>
        <p:txBody>
          <a:bodyPr wrap="square" lIns="91440" tIns="0" rIns="91440" bIns="0" anchor="ctr"/>
          <a:lstStyle/>
          <a:p>
            <a:pPr algn="l">
              <a:spcAft>
                <a:spcPts val="0"/>
              </a:spcAft>
            </a:pPr>
            <a:r>
              <a:rPr lang="en-US" sz="1100" b="1" i="0" dirty="0">
                <a:solidFill>
                  <a:srgbClr val="071C39"/>
                </a:solidFill>
                <a:latin typeface="Aptos"/>
              </a:rPr>
              <a:t>Marketing</a:t>
            </a:r>
          </a:p>
        </p:txBody>
      </p:sp>
      <p:sp>
        <p:nvSpPr>
          <p:cNvPr id="3054" name="Cell 5-2"/>
          <p:cNvSpPr txBox="1"/>
          <p:nvPr/>
        </p:nvSpPr>
        <p:spPr>
          <a:xfrm>
            <a:off x="2550000" y="3890000"/>
            <a:ext cx="850000" cy="455000"/>
          </a:xfrm>
          <a:prstGeom prst="rect">
            <a:avLst/>
          </a:prstGeom>
          <a:noFill/>
        </p:spPr>
        <p:txBody>
          <a:bodyPr wrap="square" lIns="91440" tIns="0" rIns="91440" bIns="0" anchor="ctr"/>
          <a:lstStyle/>
          <a:p>
            <a:pPr algn="l">
              <a:spcAft>
                <a:spcPts val="0"/>
              </a:spcAft>
            </a:pPr>
            <a:r>
              <a:rPr lang="en-US" sz="1100" b="1" i="0" dirty="0">
                <a:solidFill>
                  <a:srgbClr val="1F2A38"/>
                </a:solidFill>
                <a:latin typeface="Aptos"/>
              </a:rPr>
              <a:t>31.3%</a:t>
            </a:r>
          </a:p>
        </p:txBody>
      </p:sp>
      <p:sp>
        <p:nvSpPr>
          <p:cNvPr id="3055" name="Cell 5-3"/>
          <p:cNvSpPr txBox="1"/>
          <p:nvPr/>
        </p:nvSpPr>
        <p:spPr>
          <a:xfrm>
            <a:off x="3400000" y="3890000"/>
            <a:ext cx="8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14.2</a:t>
            </a:r>
          </a:p>
        </p:txBody>
      </p:sp>
      <p:sp>
        <p:nvSpPr>
          <p:cNvPr id="3056" name="Risk pill 5"/>
          <p:cNvSpPr/>
          <p:nvPr/>
        </p:nvSpPr>
        <p:spPr>
          <a:xfrm>
            <a:off x="4291440" y="3992500"/>
            <a:ext cx="820000" cy="250000"/>
          </a:xfrm>
          <a:prstGeom prst="roundRect">
            <a:avLst>
              <a:gd name="adj" fmla="val 50000"/>
            </a:avLst>
          </a:prstGeom>
          <a:solidFill>
            <a:srgbClr val="D98A1F"/>
          </a:solidFill>
          <a:ln>
            <a:noFill/>
          </a:ln>
          <a:effectLst/>
        </p:spPr>
        <p:txBody>
          <a:bodyPr rtlCol="0" anchor="ctr"/>
          <a:lstStyle/>
          <a:p>
            <a:pPr algn="ctr"/>
            <a:endParaRPr lang="en-US"/>
          </a:p>
        </p:txBody>
      </p:sp>
      <p:sp>
        <p:nvSpPr>
          <p:cNvPr id="3057" name="Risk text 5"/>
          <p:cNvSpPr txBox="1"/>
          <p:nvPr/>
        </p:nvSpPr>
        <p:spPr>
          <a:xfrm>
            <a:off x="4291440" y="3992500"/>
            <a:ext cx="820000" cy="250000"/>
          </a:xfrm>
          <a:prstGeom prst="rect">
            <a:avLst/>
          </a:prstGeom>
          <a:noFill/>
        </p:spPr>
        <p:txBody>
          <a:bodyPr wrap="square" lIns="0" tIns="0" rIns="0" bIns="0" anchor="ctr"/>
          <a:lstStyle/>
          <a:p>
            <a:pPr algn="ctr">
              <a:spcAft>
                <a:spcPts val="0"/>
              </a:spcAft>
            </a:pPr>
            <a:r>
              <a:rPr lang="en-US" sz="1000" b="1" i="0" dirty="0">
                <a:solidFill>
                  <a:srgbClr val="FFFFFF"/>
                </a:solidFill>
                <a:latin typeface="Aptos"/>
              </a:rPr>
              <a:t>Medium</a:t>
            </a:r>
          </a:p>
        </p:txBody>
      </p:sp>
      <p:sp>
        <p:nvSpPr>
          <p:cNvPr id="3058" name="Cell 5-5"/>
          <p:cNvSpPr txBox="1"/>
          <p:nvPr/>
        </p:nvSpPr>
        <p:spPr>
          <a:xfrm>
            <a:off x="5250000" y="3890000"/>
            <a:ext cx="29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10 of 32 pending</a:t>
            </a:r>
          </a:p>
        </p:txBody>
      </p:sp>
      <p:sp>
        <p:nvSpPr>
          <p:cNvPr id="3059" name="Cell 5-6"/>
          <p:cNvSpPr txBox="1"/>
          <p:nvPr/>
        </p:nvSpPr>
        <p:spPr>
          <a:xfrm>
            <a:off x="8150000" y="3890000"/>
            <a:ext cx="34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Fair-marketing and disclosure norms; customer consent</a:t>
            </a:r>
          </a:p>
        </p:txBody>
      </p:sp>
      <p:sp>
        <p:nvSpPr>
          <p:cNvPr id="3060" name="Row band 6"/>
          <p:cNvSpPr/>
          <p:nvPr/>
        </p:nvSpPr>
        <p:spPr>
          <a:xfrm>
            <a:off x="650000" y="4345000"/>
            <a:ext cx="10943960" cy="455000"/>
          </a:xfrm>
          <a:prstGeom prst="rect">
            <a:avLst/>
          </a:prstGeom>
          <a:solidFill>
            <a:srgbClr val="F1F6FC"/>
          </a:solidFill>
          <a:ln>
            <a:noFill/>
          </a:ln>
          <a:effectLst/>
        </p:spPr>
        <p:txBody>
          <a:bodyPr rtlCol="0" anchor="ctr"/>
          <a:lstStyle/>
          <a:p>
            <a:pPr algn="ctr"/>
            <a:endParaRPr lang="en-US"/>
          </a:p>
        </p:txBody>
      </p:sp>
      <p:sp>
        <p:nvSpPr>
          <p:cNvPr id="3061" name="Cell 6-1"/>
          <p:cNvSpPr txBox="1"/>
          <p:nvPr/>
        </p:nvSpPr>
        <p:spPr>
          <a:xfrm>
            <a:off x="700000" y="4345000"/>
            <a:ext cx="1850000" cy="455000"/>
          </a:xfrm>
          <a:prstGeom prst="rect">
            <a:avLst/>
          </a:prstGeom>
          <a:noFill/>
        </p:spPr>
        <p:txBody>
          <a:bodyPr wrap="square" lIns="91440" tIns="0" rIns="91440" bIns="0" anchor="ctr"/>
          <a:lstStyle/>
          <a:p>
            <a:pPr algn="l">
              <a:spcAft>
                <a:spcPts val="0"/>
              </a:spcAft>
            </a:pPr>
            <a:r>
              <a:rPr lang="en-US" sz="1100" b="1" i="0" dirty="0">
                <a:solidFill>
                  <a:srgbClr val="071C39"/>
                </a:solidFill>
                <a:latin typeface="Aptos"/>
              </a:rPr>
              <a:t>Operations</a:t>
            </a:r>
          </a:p>
        </p:txBody>
      </p:sp>
      <p:sp>
        <p:nvSpPr>
          <p:cNvPr id="3062" name="Cell 6-2"/>
          <p:cNvSpPr txBox="1"/>
          <p:nvPr/>
        </p:nvSpPr>
        <p:spPr>
          <a:xfrm>
            <a:off x="2550000" y="4345000"/>
            <a:ext cx="850000" cy="455000"/>
          </a:xfrm>
          <a:prstGeom prst="rect">
            <a:avLst/>
          </a:prstGeom>
          <a:noFill/>
        </p:spPr>
        <p:txBody>
          <a:bodyPr wrap="square" lIns="91440" tIns="0" rIns="91440" bIns="0" anchor="ctr"/>
          <a:lstStyle/>
          <a:p>
            <a:pPr algn="l">
              <a:spcAft>
                <a:spcPts val="0"/>
              </a:spcAft>
            </a:pPr>
            <a:r>
              <a:rPr lang="en-US" sz="1100" b="1" i="0" dirty="0">
                <a:solidFill>
                  <a:srgbClr val="1F2A38"/>
                </a:solidFill>
                <a:latin typeface="Aptos"/>
              </a:rPr>
              <a:t>29.8%</a:t>
            </a:r>
          </a:p>
        </p:txBody>
      </p:sp>
      <p:sp>
        <p:nvSpPr>
          <p:cNvPr id="3063" name="Cell 6-3"/>
          <p:cNvSpPr txBox="1"/>
          <p:nvPr/>
        </p:nvSpPr>
        <p:spPr>
          <a:xfrm>
            <a:off x="3400000" y="4345000"/>
            <a:ext cx="8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13.9</a:t>
            </a:r>
          </a:p>
        </p:txBody>
      </p:sp>
      <p:sp>
        <p:nvSpPr>
          <p:cNvPr id="3064" name="Risk pill 6"/>
          <p:cNvSpPr/>
          <p:nvPr/>
        </p:nvSpPr>
        <p:spPr>
          <a:xfrm>
            <a:off x="4291440" y="4447500"/>
            <a:ext cx="820000" cy="250000"/>
          </a:xfrm>
          <a:prstGeom prst="roundRect">
            <a:avLst>
              <a:gd name="adj" fmla="val 50000"/>
            </a:avLst>
          </a:prstGeom>
          <a:solidFill>
            <a:srgbClr val="2E9E6B"/>
          </a:solidFill>
          <a:ln>
            <a:noFill/>
          </a:ln>
          <a:effectLst/>
        </p:spPr>
        <p:txBody>
          <a:bodyPr rtlCol="0" anchor="ctr"/>
          <a:lstStyle/>
          <a:p>
            <a:pPr algn="ctr"/>
            <a:endParaRPr lang="en-US"/>
          </a:p>
        </p:txBody>
      </p:sp>
      <p:sp>
        <p:nvSpPr>
          <p:cNvPr id="3065" name="Risk text 6"/>
          <p:cNvSpPr txBox="1"/>
          <p:nvPr/>
        </p:nvSpPr>
        <p:spPr>
          <a:xfrm>
            <a:off x="4291440" y="4447500"/>
            <a:ext cx="820000" cy="250000"/>
          </a:xfrm>
          <a:prstGeom prst="rect">
            <a:avLst/>
          </a:prstGeom>
          <a:noFill/>
        </p:spPr>
        <p:txBody>
          <a:bodyPr wrap="square" lIns="0" tIns="0" rIns="0" bIns="0" anchor="ctr"/>
          <a:lstStyle/>
          <a:p>
            <a:pPr algn="ctr">
              <a:spcAft>
                <a:spcPts val="0"/>
              </a:spcAft>
            </a:pPr>
            <a:r>
              <a:rPr lang="en-US" sz="1000" b="1" i="0" dirty="0">
                <a:solidFill>
                  <a:srgbClr val="FFFFFF"/>
                </a:solidFill>
                <a:latin typeface="Aptos"/>
              </a:rPr>
              <a:t>Low</a:t>
            </a:r>
          </a:p>
        </p:txBody>
      </p:sp>
      <p:sp>
        <p:nvSpPr>
          <p:cNvPr id="3066" name="Cell 6-5"/>
          <p:cNvSpPr txBox="1"/>
          <p:nvPr/>
        </p:nvSpPr>
        <p:spPr>
          <a:xfrm>
            <a:off x="5250000" y="4345000"/>
            <a:ext cx="29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25 of 84 pending; hours at average</a:t>
            </a:r>
          </a:p>
        </p:txBody>
      </p:sp>
      <p:sp>
        <p:nvSpPr>
          <p:cNvPr id="3067" name="Cell 6-6"/>
          <p:cNvSpPr txBox="1"/>
          <p:nvPr/>
        </p:nvSpPr>
        <p:spPr>
          <a:xfrm>
            <a:off x="8150000" y="4345000"/>
            <a:ext cx="34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Process controls; fraud detection; transaction monitoring</a:t>
            </a:r>
          </a:p>
        </p:txBody>
      </p:sp>
      <p:sp>
        <p:nvSpPr>
          <p:cNvPr id="3068" name="Cell 7-1"/>
          <p:cNvSpPr txBox="1"/>
          <p:nvPr/>
        </p:nvSpPr>
        <p:spPr>
          <a:xfrm>
            <a:off x="700000" y="4800000"/>
            <a:ext cx="1850000" cy="455000"/>
          </a:xfrm>
          <a:prstGeom prst="rect">
            <a:avLst/>
          </a:prstGeom>
          <a:noFill/>
        </p:spPr>
        <p:txBody>
          <a:bodyPr wrap="square" lIns="91440" tIns="0" rIns="91440" bIns="0" anchor="ctr"/>
          <a:lstStyle/>
          <a:p>
            <a:pPr algn="l">
              <a:spcAft>
                <a:spcPts val="0"/>
              </a:spcAft>
            </a:pPr>
            <a:r>
              <a:rPr lang="en-US" sz="1100" b="1" i="0" dirty="0">
                <a:solidFill>
                  <a:srgbClr val="071C39"/>
                </a:solidFill>
                <a:latin typeface="Aptos"/>
              </a:rPr>
              <a:t>Retail Banking</a:t>
            </a:r>
          </a:p>
        </p:txBody>
      </p:sp>
      <p:sp>
        <p:nvSpPr>
          <p:cNvPr id="3069" name="Cell 7-2"/>
          <p:cNvSpPr txBox="1"/>
          <p:nvPr/>
        </p:nvSpPr>
        <p:spPr>
          <a:xfrm>
            <a:off x="2550000" y="4800000"/>
            <a:ext cx="850000" cy="455000"/>
          </a:xfrm>
          <a:prstGeom prst="rect">
            <a:avLst/>
          </a:prstGeom>
          <a:noFill/>
        </p:spPr>
        <p:txBody>
          <a:bodyPr wrap="square" lIns="91440" tIns="0" rIns="91440" bIns="0" anchor="ctr"/>
          <a:lstStyle/>
          <a:p>
            <a:pPr algn="l">
              <a:spcAft>
                <a:spcPts val="0"/>
              </a:spcAft>
            </a:pPr>
            <a:r>
              <a:rPr lang="en-US" sz="1100" b="1" i="0" dirty="0">
                <a:solidFill>
                  <a:srgbClr val="1F2A38"/>
                </a:solidFill>
                <a:latin typeface="Aptos"/>
              </a:rPr>
              <a:t>29.0%</a:t>
            </a:r>
          </a:p>
        </p:txBody>
      </p:sp>
      <p:sp>
        <p:nvSpPr>
          <p:cNvPr id="3070" name="Cell 7-3"/>
          <p:cNvSpPr txBox="1"/>
          <p:nvPr/>
        </p:nvSpPr>
        <p:spPr>
          <a:xfrm>
            <a:off x="3400000" y="4800000"/>
            <a:ext cx="8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12.5</a:t>
            </a:r>
          </a:p>
        </p:txBody>
      </p:sp>
      <p:sp>
        <p:nvSpPr>
          <p:cNvPr id="3071" name="Risk pill 7"/>
          <p:cNvSpPr/>
          <p:nvPr/>
        </p:nvSpPr>
        <p:spPr>
          <a:xfrm>
            <a:off x="4291440" y="4902500"/>
            <a:ext cx="820000" cy="250000"/>
          </a:xfrm>
          <a:prstGeom prst="roundRect">
            <a:avLst>
              <a:gd name="adj" fmla="val 50000"/>
            </a:avLst>
          </a:prstGeom>
          <a:solidFill>
            <a:srgbClr val="2E9E6B"/>
          </a:solidFill>
          <a:ln>
            <a:noFill/>
          </a:ln>
          <a:effectLst/>
        </p:spPr>
        <p:txBody>
          <a:bodyPr rtlCol="0" anchor="ctr"/>
          <a:lstStyle/>
          <a:p>
            <a:pPr algn="ctr"/>
            <a:endParaRPr lang="en-US"/>
          </a:p>
        </p:txBody>
      </p:sp>
      <p:sp>
        <p:nvSpPr>
          <p:cNvPr id="3072" name="Risk text 7"/>
          <p:cNvSpPr txBox="1"/>
          <p:nvPr/>
        </p:nvSpPr>
        <p:spPr>
          <a:xfrm>
            <a:off x="4291440" y="4902500"/>
            <a:ext cx="820000" cy="250000"/>
          </a:xfrm>
          <a:prstGeom prst="rect">
            <a:avLst/>
          </a:prstGeom>
          <a:noFill/>
        </p:spPr>
        <p:txBody>
          <a:bodyPr wrap="square" lIns="0" tIns="0" rIns="0" bIns="0" anchor="ctr"/>
          <a:lstStyle/>
          <a:p>
            <a:pPr algn="ctr">
              <a:spcAft>
                <a:spcPts val="0"/>
              </a:spcAft>
            </a:pPr>
            <a:r>
              <a:rPr lang="en-US" sz="1000" b="1" i="0" dirty="0">
                <a:solidFill>
                  <a:srgbClr val="FFFFFF"/>
                </a:solidFill>
                <a:latin typeface="Aptos"/>
              </a:rPr>
              <a:t>Low</a:t>
            </a:r>
          </a:p>
        </p:txBody>
      </p:sp>
      <p:sp>
        <p:nvSpPr>
          <p:cNvPr id="3073" name="Cell 7-5"/>
          <p:cNvSpPr txBox="1"/>
          <p:nvPr/>
        </p:nvSpPr>
        <p:spPr>
          <a:xfrm>
            <a:off x="5250000" y="4800000"/>
            <a:ext cx="29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Lowest training hours (12.5)</a:t>
            </a:r>
          </a:p>
        </p:txBody>
      </p:sp>
      <p:sp>
        <p:nvSpPr>
          <p:cNvPr id="3074" name="Cell 7-6"/>
          <p:cNvSpPr txBox="1"/>
          <p:nvPr/>
        </p:nvSpPr>
        <p:spPr>
          <a:xfrm>
            <a:off x="8150000" y="4800000"/>
            <a:ext cx="34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KYC basics; customer conduct; mis-selling prevention</a:t>
            </a:r>
          </a:p>
        </p:txBody>
      </p:sp>
      <p:sp>
        <p:nvSpPr>
          <p:cNvPr id="3075" name="Row band 8"/>
          <p:cNvSpPr/>
          <p:nvPr/>
        </p:nvSpPr>
        <p:spPr>
          <a:xfrm>
            <a:off x="650000" y="5255000"/>
            <a:ext cx="10943960" cy="455000"/>
          </a:xfrm>
          <a:prstGeom prst="rect">
            <a:avLst/>
          </a:prstGeom>
          <a:solidFill>
            <a:srgbClr val="F1F6FC"/>
          </a:solidFill>
          <a:ln>
            <a:noFill/>
          </a:ln>
          <a:effectLst/>
        </p:spPr>
        <p:txBody>
          <a:bodyPr rtlCol="0" anchor="ctr"/>
          <a:lstStyle/>
          <a:p>
            <a:pPr algn="ctr"/>
            <a:endParaRPr lang="en-US"/>
          </a:p>
        </p:txBody>
      </p:sp>
      <p:sp>
        <p:nvSpPr>
          <p:cNvPr id="3076" name="Cell 8-1"/>
          <p:cNvSpPr txBox="1"/>
          <p:nvPr/>
        </p:nvSpPr>
        <p:spPr>
          <a:xfrm>
            <a:off x="700000" y="5255000"/>
            <a:ext cx="1850000" cy="455000"/>
          </a:xfrm>
          <a:prstGeom prst="rect">
            <a:avLst/>
          </a:prstGeom>
          <a:noFill/>
        </p:spPr>
        <p:txBody>
          <a:bodyPr wrap="square" lIns="91440" tIns="0" rIns="91440" bIns="0" anchor="ctr"/>
          <a:lstStyle/>
          <a:p>
            <a:pPr algn="l">
              <a:spcAft>
                <a:spcPts val="0"/>
              </a:spcAft>
            </a:pPr>
            <a:r>
              <a:rPr lang="en-US" sz="1100" b="1" i="0" dirty="0">
                <a:solidFill>
                  <a:srgbClr val="071C39"/>
                </a:solidFill>
                <a:latin typeface="Aptos"/>
              </a:rPr>
              <a:t>Investment Banking</a:t>
            </a:r>
          </a:p>
        </p:txBody>
      </p:sp>
      <p:sp>
        <p:nvSpPr>
          <p:cNvPr id="3077" name="Cell 8-2"/>
          <p:cNvSpPr txBox="1"/>
          <p:nvPr/>
        </p:nvSpPr>
        <p:spPr>
          <a:xfrm>
            <a:off x="2550000" y="5255000"/>
            <a:ext cx="850000" cy="455000"/>
          </a:xfrm>
          <a:prstGeom prst="rect">
            <a:avLst/>
          </a:prstGeom>
          <a:noFill/>
        </p:spPr>
        <p:txBody>
          <a:bodyPr wrap="square" lIns="91440" tIns="0" rIns="91440" bIns="0" anchor="ctr"/>
          <a:lstStyle/>
          <a:p>
            <a:pPr algn="l">
              <a:spcAft>
                <a:spcPts val="0"/>
              </a:spcAft>
            </a:pPr>
            <a:r>
              <a:rPr lang="en-US" sz="1100" b="1" i="0" dirty="0">
                <a:solidFill>
                  <a:srgbClr val="1F2A38"/>
                </a:solidFill>
                <a:latin typeface="Aptos"/>
              </a:rPr>
              <a:t>22.0%</a:t>
            </a:r>
          </a:p>
        </p:txBody>
      </p:sp>
      <p:sp>
        <p:nvSpPr>
          <p:cNvPr id="3078" name="Cell 8-3"/>
          <p:cNvSpPr txBox="1"/>
          <p:nvPr/>
        </p:nvSpPr>
        <p:spPr>
          <a:xfrm>
            <a:off x="3400000" y="5255000"/>
            <a:ext cx="8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13.7</a:t>
            </a:r>
          </a:p>
        </p:txBody>
      </p:sp>
      <p:sp>
        <p:nvSpPr>
          <p:cNvPr id="3079" name="Risk pill 8"/>
          <p:cNvSpPr/>
          <p:nvPr/>
        </p:nvSpPr>
        <p:spPr>
          <a:xfrm>
            <a:off x="4291440" y="5357500"/>
            <a:ext cx="820000" cy="250000"/>
          </a:xfrm>
          <a:prstGeom prst="roundRect">
            <a:avLst>
              <a:gd name="adj" fmla="val 50000"/>
            </a:avLst>
          </a:prstGeom>
          <a:solidFill>
            <a:srgbClr val="2E9E6B"/>
          </a:solidFill>
          <a:ln>
            <a:noFill/>
          </a:ln>
          <a:effectLst/>
        </p:spPr>
        <p:txBody>
          <a:bodyPr rtlCol="0" anchor="ctr"/>
          <a:lstStyle/>
          <a:p>
            <a:pPr algn="ctr"/>
            <a:endParaRPr lang="en-US"/>
          </a:p>
        </p:txBody>
      </p:sp>
      <p:sp>
        <p:nvSpPr>
          <p:cNvPr id="3080" name="Risk text 8"/>
          <p:cNvSpPr txBox="1"/>
          <p:nvPr/>
        </p:nvSpPr>
        <p:spPr>
          <a:xfrm>
            <a:off x="4291440" y="5357500"/>
            <a:ext cx="820000" cy="250000"/>
          </a:xfrm>
          <a:prstGeom prst="rect">
            <a:avLst/>
          </a:prstGeom>
          <a:noFill/>
        </p:spPr>
        <p:txBody>
          <a:bodyPr wrap="square" lIns="0" tIns="0" rIns="0" bIns="0" anchor="ctr"/>
          <a:lstStyle/>
          <a:p>
            <a:pPr algn="ctr">
              <a:spcAft>
                <a:spcPts val="0"/>
              </a:spcAft>
            </a:pPr>
            <a:r>
              <a:rPr lang="en-US" sz="1000" b="1" i="0" dirty="0">
                <a:solidFill>
                  <a:srgbClr val="FFFFFF"/>
                </a:solidFill>
                <a:latin typeface="Aptos"/>
              </a:rPr>
              <a:t>Low</a:t>
            </a:r>
          </a:p>
        </p:txBody>
      </p:sp>
      <p:sp>
        <p:nvSpPr>
          <p:cNvPr id="3081" name="Cell 8-5"/>
          <p:cNvSpPr txBox="1"/>
          <p:nvPr/>
        </p:nvSpPr>
        <p:spPr>
          <a:xfrm>
            <a:off x="5250000" y="5255000"/>
            <a:ext cx="29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9 of 41 pending: best completion</a:t>
            </a:r>
          </a:p>
        </p:txBody>
      </p:sp>
      <p:sp>
        <p:nvSpPr>
          <p:cNvPr id="3082" name="Cell 8-6"/>
          <p:cNvSpPr txBox="1"/>
          <p:nvPr/>
        </p:nvSpPr>
        <p:spPr>
          <a:xfrm>
            <a:off x="8150000" y="5255000"/>
            <a:ext cx="3400000" cy="455000"/>
          </a:xfrm>
          <a:prstGeom prst="rect">
            <a:avLst/>
          </a:prstGeom>
          <a:noFill/>
        </p:spPr>
        <p:txBody>
          <a:bodyPr wrap="square" lIns="91440" tIns="0" rIns="91440" bIns="0" anchor="ctr"/>
          <a:lstStyle/>
          <a:p>
            <a:pPr algn="l">
              <a:spcAft>
                <a:spcPts val="0"/>
              </a:spcAft>
            </a:pPr>
            <a:r>
              <a:rPr lang="en-US" sz="1100" b="0" i="0" dirty="0">
                <a:solidFill>
                  <a:srgbClr val="1F2A38"/>
                </a:solidFill>
                <a:latin typeface="Aptos"/>
              </a:rPr>
              <a:t>Market conduct; conflicts of interest; insider-trading rules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0698480" cy="502920"/>
          </a:xfrm>
          <a:prstGeom prst="rect">
            <a:avLst/>
          </a:prstGeom>
          <a:noFill/>
        </p:spPr>
        <p:txBody>
          <a:bodyPr wrap="square" lIns="45720" rIns="45720" anchor="t">
            <a:spAutoFit/>
          </a:bodyPr>
          <a:lstStyle/>
          <a:p>
            <a:pPr algn="l">
              <a:spcAft>
                <a:spcPts val="0"/>
              </a:spcAft>
            </a:pPr>
            <a:r>
              <a:rPr sz="2600" b="1" i="0">
                <a:solidFill>
                  <a:srgbClr val="FFFFFF"/>
                </a:solidFill>
                <a:latin typeface="Aptos"/>
              </a:rPr>
              <a:t>Key Insights and HR Actions</a:t>
            </a:r>
          </a:p>
        </p:txBody>
      </p:sp>
      <p:sp>
        <p:nvSpPr>
          <p:cNvPr id="4" name="Rectangle 3"/>
          <p:cNvSpPr/>
          <p:nvPr/>
        </p:nvSpPr>
        <p:spPr>
          <a:xfrm>
            <a:off x="530352" y="850392"/>
            <a:ext cx="713232" cy="50292"/>
          </a:xfrm>
          <a:prstGeom prst="rect">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44200" y="6528816"/>
            <a:ext cx="914400" cy="164592"/>
          </a:xfrm>
          <a:prstGeom prst="rect">
            <a:avLst/>
          </a:prstGeom>
          <a:noFill/>
        </p:spPr>
        <p:txBody>
          <a:bodyPr wrap="square" lIns="45720" rIns="45720" anchor="t">
            <a:spAutoFit/>
          </a:bodyPr>
          <a:lstStyle/>
          <a:p>
            <a:pPr algn="r">
              <a:spcAft>
                <a:spcPts val="0"/>
              </a:spcAft>
            </a:pPr>
            <a:r>
              <a:rPr sz="900" b="0" i="0">
                <a:solidFill>
                  <a:srgbClr val="B0C2D8"/>
                </a:solidFill>
                <a:latin typeface="Aptos"/>
              </a:rPr>
              <a:t>09  /  09</a:t>
            </a:r>
          </a:p>
        </p:txBody>
      </p:sp>
      <p:sp>
        <p:nvSpPr>
          <p:cNvPr id="8" name="Rounded Rectangle 7"/>
          <p:cNvSpPr/>
          <p:nvPr/>
        </p:nvSpPr>
        <p:spPr>
          <a:xfrm>
            <a:off x="530351" y="1115568"/>
            <a:ext cx="3596641" cy="4626864"/>
          </a:xfrm>
          <a:prstGeom prst="roundRect">
            <a:avLst/>
          </a:prstGeom>
          <a:solidFill>
            <a:srgbClr val="FFFFFF"/>
          </a:solidFill>
          <a:ln w="10160">
            <a:solidFill>
              <a:srgbClr val="CF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77240" y="1353312"/>
            <a:ext cx="960120" cy="283464"/>
          </a:xfrm>
          <a:prstGeom prst="roundRect">
            <a:avLst/>
          </a:prstGeom>
          <a:solidFill>
            <a:srgbClr val="E1EFFF"/>
          </a:solidFill>
          <a:ln w="10160">
            <a:solidFill>
              <a:srgbClr val="E1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2103" y="1394460"/>
            <a:ext cx="850392" cy="182880"/>
          </a:xfrm>
          <a:prstGeom prst="rect">
            <a:avLst/>
          </a:prstGeom>
          <a:noFill/>
        </p:spPr>
        <p:txBody>
          <a:bodyPr wrap="square" lIns="0" tIns="0" rIns="0" bIns="0" anchor="ctr">
            <a:spAutoFit/>
          </a:bodyPr>
          <a:lstStyle/>
          <a:p>
            <a:pPr algn="ctr">
              <a:spcAft>
                <a:spcPts val="0"/>
              </a:spcAft>
            </a:pPr>
            <a:r>
              <a:rPr sz="900" b="1" i="0">
                <a:solidFill>
                  <a:srgbClr val="1146BE"/>
                </a:solidFill>
                <a:latin typeface="Aptos"/>
              </a:rPr>
              <a:t>FINDINGS</a:t>
            </a:r>
          </a:p>
        </p:txBody>
      </p:sp>
      <p:sp>
        <p:nvSpPr>
          <p:cNvPr id="11" name="Oval 10"/>
          <p:cNvSpPr/>
          <p:nvPr/>
        </p:nvSpPr>
        <p:spPr>
          <a:xfrm>
            <a:off x="804672" y="1984248"/>
            <a:ext cx="82296" cy="82296"/>
          </a:xfrm>
          <a:prstGeom prst="ellipse">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 y="1874519"/>
            <a:ext cx="2816351" cy="457200"/>
          </a:xfrm>
          <a:prstGeom prst="rect">
            <a:avLst/>
          </a:prstGeom>
          <a:noFill/>
        </p:spPr>
        <p:txBody>
          <a:bodyPr wrap="square" lIns="45720" rIns="45720" anchor="t">
            <a:spAutoFit/>
          </a:bodyPr>
          <a:lstStyle/>
          <a:p>
            <a:pPr algn="l">
              <a:spcAft>
                <a:spcPts val="0"/>
              </a:spcAft>
            </a:pPr>
            <a:r>
              <a:rPr sz="1100" b="0" i="0">
                <a:solidFill>
                  <a:srgbClr val="1F2A38"/>
                </a:solidFill>
                <a:latin typeface="Aptos"/>
              </a:rPr>
              <a:t>Risk Mgmt has most pending (54); IT &amp; Digital the highest share (64%).</a:t>
            </a:r>
          </a:p>
        </p:txBody>
      </p:sp>
      <p:sp>
        <p:nvSpPr>
          <p:cNvPr id="13" name="Oval 12"/>
          <p:cNvSpPr/>
          <p:nvPr/>
        </p:nvSpPr>
        <p:spPr>
          <a:xfrm>
            <a:off x="804672" y="2551176"/>
            <a:ext cx="82296" cy="82296"/>
          </a:xfrm>
          <a:prstGeom prst="ellipse">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87552" y="2441448"/>
            <a:ext cx="2816351" cy="457200"/>
          </a:xfrm>
          <a:prstGeom prst="rect">
            <a:avLst/>
          </a:prstGeom>
          <a:noFill/>
        </p:spPr>
        <p:txBody>
          <a:bodyPr wrap="square" lIns="45720" rIns="45720" anchor="t">
            <a:spAutoFit/>
          </a:bodyPr>
          <a:lstStyle/>
          <a:p>
            <a:pPr algn="l">
              <a:spcAft>
                <a:spcPts val="0"/>
              </a:spcAft>
            </a:pPr>
            <a:r>
              <a:rPr sz="1100" b="0" i="0">
                <a:solidFill>
                  <a:srgbClr val="1F2A38"/>
                </a:solidFill>
                <a:latin typeface="Aptos"/>
              </a:rPr>
              <a:t>HR averages 15.9 hours; Retail Banking averages 12.5.</a:t>
            </a:r>
          </a:p>
        </p:txBody>
      </p:sp>
      <p:sp>
        <p:nvSpPr>
          <p:cNvPr id="15" name="Oval 14"/>
          <p:cNvSpPr/>
          <p:nvPr/>
        </p:nvSpPr>
        <p:spPr>
          <a:xfrm>
            <a:off x="804672" y="3118104"/>
            <a:ext cx="82296" cy="82296"/>
          </a:xfrm>
          <a:prstGeom prst="ellipse">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87552" y="3008376"/>
            <a:ext cx="2816351" cy="457200"/>
          </a:xfrm>
          <a:prstGeom prst="rect">
            <a:avLst/>
          </a:prstGeom>
          <a:noFill/>
        </p:spPr>
        <p:txBody>
          <a:bodyPr wrap="square" lIns="45720" rIns="45720" anchor="t">
            <a:spAutoFit/>
          </a:bodyPr>
          <a:lstStyle/>
          <a:p>
            <a:pPr algn="l">
              <a:spcAft>
                <a:spcPts val="0"/>
              </a:spcAft>
            </a:pPr>
            <a:r>
              <a:rPr sz="1100" b="0" i="0" dirty="0">
                <a:solidFill>
                  <a:srgbClr val="1F2A38"/>
                </a:solidFill>
                <a:latin typeface="Aptos"/>
              </a:rPr>
              <a:t>215 of 500 employees (43%) are pending; 205 (41%) are High priority.</a:t>
            </a:r>
          </a:p>
        </p:txBody>
      </p:sp>
      <p:sp>
        <p:nvSpPr>
          <p:cNvPr id="17" name="Rounded Rectangle 16"/>
          <p:cNvSpPr/>
          <p:nvPr/>
        </p:nvSpPr>
        <p:spPr>
          <a:xfrm>
            <a:off x="4297680" y="1115568"/>
            <a:ext cx="3596641" cy="4718304"/>
          </a:xfrm>
          <a:prstGeom prst="roundRect">
            <a:avLst/>
          </a:prstGeom>
          <a:solidFill>
            <a:srgbClr val="FFFFFF"/>
          </a:solidFill>
          <a:ln w="10160">
            <a:solidFill>
              <a:srgbClr val="CF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553712" y="1353312"/>
            <a:ext cx="1600200" cy="283464"/>
          </a:xfrm>
          <a:prstGeom prst="roundRect">
            <a:avLst/>
          </a:prstGeom>
          <a:solidFill>
            <a:srgbClr val="E1EFFF"/>
          </a:solidFill>
          <a:ln w="10160">
            <a:solidFill>
              <a:srgbClr val="E1E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08576" y="1394460"/>
            <a:ext cx="1490472" cy="182880"/>
          </a:xfrm>
          <a:prstGeom prst="rect">
            <a:avLst/>
          </a:prstGeom>
          <a:noFill/>
        </p:spPr>
        <p:txBody>
          <a:bodyPr wrap="square" lIns="0" tIns="0" rIns="0" bIns="0" anchor="ctr">
            <a:spAutoFit/>
          </a:bodyPr>
          <a:lstStyle/>
          <a:p>
            <a:pPr algn="ctr">
              <a:spcAft>
                <a:spcPts val="0"/>
              </a:spcAft>
            </a:pPr>
            <a:r>
              <a:rPr sz="900" b="1" i="0">
                <a:solidFill>
                  <a:srgbClr val="1146BE"/>
                </a:solidFill>
                <a:latin typeface="Aptos"/>
              </a:rPr>
              <a:t>RECOMMENDATIONS</a:t>
            </a:r>
          </a:p>
        </p:txBody>
      </p:sp>
      <p:sp>
        <p:nvSpPr>
          <p:cNvPr id="20" name="Oval 19"/>
          <p:cNvSpPr/>
          <p:nvPr/>
        </p:nvSpPr>
        <p:spPr>
          <a:xfrm>
            <a:off x="4572000" y="2048256"/>
            <a:ext cx="82296" cy="82296"/>
          </a:xfrm>
          <a:prstGeom prst="ellipse">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0" y="1938528"/>
            <a:ext cx="2761488" cy="658368"/>
          </a:xfrm>
          <a:prstGeom prst="rect">
            <a:avLst/>
          </a:prstGeom>
          <a:noFill/>
        </p:spPr>
        <p:txBody>
          <a:bodyPr wrap="square" lIns="45720" rIns="45720" anchor="t">
            <a:spAutoFit/>
          </a:bodyPr>
          <a:lstStyle/>
          <a:p>
            <a:pPr algn="l">
              <a:spcAft>
                <a:spcPts val="0"/>
              </a:spcAft>
            </a:pPr>
            <a:r>
              <a:rPr sz="1200" b="0" i="0">
                <a:solidFill>
                  <a:srgbClr val="1F2A38"/>
                </a:solidFill>
                <a:latin typeface="Aptos"/>
              </a:rPr>
              <a:t>Prioritise follow-up in Risk Management, IT &amp; Digital and Corporate Banking (over 50% pending).</a:t>
            </a:r>
          </a:p>
        </p:txBody>
      </p:sp>
      <p:sp>
        <p:nvSpPr>
          <p:cNvPr id="22" name="Oval 21"/>
          <p:cNvSpPr/>
          <p:nvPr/>
        </p:nvSpPr>
        <p:spPr>
          <a:xfrm>
            <a:off x="4572000" y="2871216"/>
            <a:ext cx="82296" cy="82296"/>
          </a:xfrm>
          <a:prstGeom prst="ellipse">
            <a:avLst/>
          </a:prstGeom>
          <a:solidFill>
            <a:srgbClr val="1C8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54880" y="2761488"/>
            <a:ext cx="2761488" cy="658368"/>
          </a:xfrm>
          <a:prstGeom prst="rect">
            <a:avLst/>
          </a:prstGeom>
          <a:noFill/>
        </p:spPr>
        <p:txBody>
          <a:bodyPr wrap="square" lIns="45720" rIns="45720" anchor="t">
            <a:spAutoFit/>
          </a:bodyPr>
          <a:lstStyle/>
          <a:p>
            <a:pPr algn="l">
              <a:spcAft>
                <a:spcPts val="0"/>
              </a:spcAft>
            </a:pPr>
            <a:r>
              <a:rPr sz="1200" b="0" i="0">
                <a:solidFill>
                  <a:srgbClr val="1F2A38"/>
                </a:solidFill>
                <a:latin typeface="Aptos"/>
              </a:rPr>
              <a:t>Use the ML lapse and skill-gap view to target modules and review training-hour gaps by department.</a:t>
            </a:r>
          </a:p>
        </p:txBody>
      </p:sp>
      <p:sp>
        <p:nvSpPr>
          <p:cNvPr id="24" name="Rounded Rectangle 23"/>
          <p:cNvSpPr/>
          <p:nvPr/>
        </p:nvSpPr>
        <p:spPr>
          <a:xfrm>
            <a:off x="8065008" y="1115568"/>
            <a:ext cx="3584448" cy="4718304"/>
          </a:xfrm>
          <a:prstGeom prst="roundRect">
            <a:avLst/>
          </a:prstGeom>
          <a:solidFill>
            <a:srgbClr val="FFFFFF"/>
          </a:solidFill>
          <a:ln w="10160">
            <a:solidFill>
              <a:srgbClr val="CFD8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321040" y="1353312"/>
            <a:ext cx="1097280" cy="283464"/>
          </a:xfrm>
          <a:prstGeom prst="roundRect">
            <a:avLst/>
          </a:prstGeom>
          <a:solidFill>
            <a:srgbClr val="FFEFDA"/>
          </a:solidFill>
          <a:ln w="10160">
            <a:solidFill>
              <a:srgbClr val="FFEF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75904" y="1394460"/>
            <a:ext cx="987552" cy="182880"/>
          </a:xfrm>
          <a:prstGeom prst="rect">
            <a:avLst/>
          </a:prstGeom>
          <a:noFill/>
        </p:spPr>
        <p:txBody>
          <a:bodyPr wrap="square" lIns="0" tIns="0" rIns="0" bIns="0" anchor="ctr">
            <a:spAutoFit/>
          </a:bodyPr>
          <a:lstStyle/>
          <a:p>
            <a:pPr algn="ctr">
              <a:spcAft>
                <a:spcPts val="0"/>
              </a:spcAft>
            </a:pPr>
            <a:r>
              <a:rPr sz="900" b="1" i="0">
                <a:solidFill>
                  <a:srgbClr val="91590C"/>
                </a:solidFill>
                <a:latin typeface="Aptos"/>
              </a:rPr>
              <a:t>LIMITATIONS</a:t>
            </a:r>
          </a:p>
        </p:txBody>
      </p:sp>
      <p:sp>
        <p:nvSpPr>
          <p:cNvPr id="27" name="Oval 26"/>
          <p:cNvSpPr/>
          <p:nvPr/>
        </p:nvSpPr>
        <p:spPr>
          <a:xfrm>
            <a:off x="8321040" y="1920240"/>
            <a:ext cx="82296" cy="82296"/>
          </a:xfrm>
          <a:prstGeom prst="ellipse">
            <a:avLst/>
          </a:prstGeom>
          <a:solidFill>
            <a:srgbClr val="E89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503919" y="1810512"/>
            <a:ext cx="2761488" cy="393192"/>
          </a:xfrm>
          <a:prstGeom prst="rect">
            <a:avLst/>
          </a:prstGeom>
          <a:noFill/>
        </p:spPr>
        <p:txBody>
          <a:bodyPr wrap="square" lIns="45720" rIns="45720" anchor="t">
            <a:spAutoFit/>
          </a:bodyPr>
          <a:lstStyle/>
          <a:p>
            <a:pPr algn="l">
              <a:spcAft>
                <a:spcPts val="0"/>
              </a:spcAft>
            </a:pPr>
            <a:r>
              <a:rPr sz="1000" b="0" i="0">
                <a:solidFill>
                  <a:srgbClr val="1F2A38"/>
                </a:solidFill>
                <a:latin typeface="Aptos"/>
              </a:rPr>
              <a:t>Synthetic data; not a real bank workforce.</a:t>
            </a:r>
          </a:p>
        </p:txBody>
      </p:sp>
      <p:sp>
        <p:nvSpPr>
          <p:cNvPr id="29" name="Oval 28"/>
          <p:cNvSpPr/>
          <p:nvPr/>
        </p:nvSpPr>
        <p:spPr>
          <a:xfrm>
            <a:off x="8321040" y="2368296"/>
            <a:ext cx="82296" cy="82296"/>
          </a:xfrm>
          <a:prstGeom prst="ellipse">
            <a:avLst/>
          </a:prstGeom>
          <a:solidFill>
            <a:srgbClr val="E89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03919" y="2258568"/>
            <a:ext cx="2761488" cy="393192"/>
          </a:xfrm>
          <a:prstGeom prst="rect">
            <a:avLst/>
          </a:prstGeom>
          <a:noFill/>
        </p:spPr>
        <p:txBody>
          <a:bodyPr wrap="square" lIns="45720" rIns="45720" anchor="t">
            <a:spAutoFit/>
          </a:bodyPr>
          <a:lstStyle/>
          <a:p>
            <a:pPr algn="l">
              <a:spcAft>
                <a:spcPts val="0"/>
              </a:spcAft>
            </a:pPr>
            <a:r>
              <a:rPr sz="1000" b="0" i="0">
                <a:solidFill>
                  <a:srgbClr val="1F2A38"/>
                </a:solidFill>
                <a:latin typeface="Aptos"/>
              </a:rPr>
              <a:t>Associations do not establish causation.</a:t>
            </a:r>
          </a:p>
        </p:txBody>
      </p:sp>
      <p:sp>
        <p:nvSpPr>
          <p:cNvPr id="31" name="Oval 30"/>
          <p:cNvSpPr/>
          <p:nvPr/>
        </p:nvSpPr>
        <p:spPr>
          <a:xfrm>
            <a:off x="8321040" y="2816352"/>
            <a:ext cx="82296" cy="82296"/>
          </a:xfrm>
          <a:prstGeom prst="ellipse">
            <a:avLst/>
          </a:prstGeom>
          <a:solidFill>
            <a:srgbClr val="E89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503919" y="2706624"/>
            <a:ext cx="2761488" cy="393192"/>
          </a:xfrm>
          <a:prstGeom prst="rect">
            <a:avLst/>
          </a:prstGeom>
          <a:noFill/>
        </p:spPr>
        <p:txBody>
          <a:bodyPr wrap="square" lIns="45720" rIns="45720" anchor="t">
            <a:spAutoFit/>
          </a:bodyPr>
          <a:lstStyle/>
          <a:p>
            <a:pPr algn="l">
              <a:spcAft>
                <a:spcPts val="0"/>
              </a:spcAft>
            </a:pPr>
            <a:r>
              <a:rPr sz="1000" b="0" i="0">
                <a:solidFill>
                  <a:srgbClr val="1F2A38"/>
                </a:solidFill>
                <a:latin typeface="Aptos"/>
              </a:rPr>
              <a:t>Figures alone do not prove effectiveness or compliance.</a:t>
            </a:r>
          </a:p>
        </p:txBody>
      </p:sp>
      <p:sp>
        <p:nvSpPr>
          <p:cNvPr id="33" name="Oval 32"/>
          <p:cNvSpPr/>
          <p:nvPr/>
        </p:nvSpPr>
        <p:spPr>
          <a:xfrm>
            <a:off x="8321040" y="3264408"/>
            <a:ext cx="82296" cy="82296"/>
          </a:xfrm>
          <a:prstGeom prst="ellipse">
            <a:avLst/>
          </a:prstGeom>
          <a:solidFill>
            <a:srgbClr val="E89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503919" y="3154680"/>
            <a:ext cx="2761488" cy="393192"/>
          </a:xfrm>
          <a:prstGeom prst="rect">
            <a:avLst/>
          </a:prstGeom>
          <a:noFill/>
        </p:spPr>
        <p:txBody>
          <a:bodyPr wrap="square" lIns="45720" rIns="45720" anchor="t">
            <a:spAutoFit/>
          </a:bodyPr>
          <a:lstStyle/>
          <a:p>
            <a:pPr algn="l">
              <a:spcAft>
                <a:spcPts val="0"/>
              </a:spcAft>
            </a:pPr>
            <a:r>
              <a:rPr sz="1000" b="0" i="0">
                <a:solidFill>
                  <a:srgbClr val="1F2A38"/>
                </a:solidFill>
                <a:latin typeface="Aptos"/>
              </a:rPr>
              <a:t>ML skill-gap results are indicative; validate before acting.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C35932-B336-FE4A-98E9-53859CB3C461}"/>
              </a:ext>
            </a:extLst>
          </p:cNvPr>
          <p:cNvSpPr txBox="1"/>
          <p:nvPr/>
        </p:nvSpPr>
        <p:spPr>
          <a:xfrm>
            <a:off x="4443982" y="2468880"/>
            <a:ext cx="3026665" cy="646331"/>
          </a:xfrm>
          <a:prstGeom prst="rect">
            <a:avLst/>
          </a:prstGeom>
          <a:noFill/>
        </p:spPr>
        <p:txBody>
          <a:bodyPr wrap="square" lIns="45720" rIns="45720" anchor="t">
            <a:spAutoFit/>
          </a:bodyPr>
          <a:lstStyle/>
          <a:p>
            <a:pPr algn="l">
              <a:spcAft>
                <a:spcPts val="0"/>
              </a:spcAft>
            </a:pPr>
            <a:r>
              <a:rPr sz="3600" b="1" i="0" dirty="0">
                <a:latin typeface="Aptos"/>
              </a:rPr>
              <a:t>THANK YOU</a:t>
            </a:r>
          </a:p>
        </p:txBody>
      </p:sp>
    </p:spTree>
    <p:extLst>
      <p:ext uri="{BB962C8B-B14F-4D97-AF65-F5344CB8AC3E}">
        <p14:creationId xmlns:p14="http://schemas.microsoft.com/office/powerpoint/2010/main" val="2770394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9469EE5-674D-4F87-8FAC-2306B1104514}">
  <we:reference id="wa200010215" version="2.0.0.1" store="en-US" storeType="OMEX"/>
  <we:alternateReferences>
    <we:reference id="wa200010215" version="2.0.0.1" store="wa200010215" storeType="OMEX"/>
  </we:alternateReferences>
  <we:properties>
    <we:property name="bps.codex_control.document_id" value="&quot;c979257b-ae4a-4769-9354-6e268b63d38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108</TotalTime>
  <Words>1878</Words>
  <Application>Microsoft Office PowerPoint</Application>
  <PresentationFormat>Widescreen</PresentationFormat>
  <Paragraphs>231</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Kanishka Singal</cp:lastModifiedBy>
  <cp:revision>4</cp:revision>
  <dcterms:created xsi:type="dcterms:W3CDTF">2013-01-27T09:14:16Z</dcterms:created>
  <dcterms:modified xsi:type="dcterms:W3CDTF">2026-10-15T05:02:31Z</dcterms:modified>
  <cp:category/>
</cp:coreProperties>
</file>